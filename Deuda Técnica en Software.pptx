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68" r:id="rId22"/>
    <p:sldId id="258" r:id="rId8"/>
    <p:sldId id="259" r:id="rId9"/>
    <p:sldId id="260" r:id="rId10"/>
    <p:sldId id="261" r:id="rId11"/>
    <p:sldId id="269" r:id="rId23"/>
    <p:sldId id="262" r:id="rId12"/>
    <p:sldId id="263" r:id="rId13"/>
    <p:sldId id="264" r:id="rId14"/>
    <p:sldId id="265" r:id="rId15"/>
    <p:sldId id="266" r:id="rId16"/>
    <p:sldId id="270" r:id="rId24"/>
    <p:sldId id="267" r:id="rId17"/>
  </p:sldIdLst>
  <p:sldSz cy="6858000" cx="12192000"/>
  <p:notesSz cx="6858000" cy="9144000"/>
  <p:embeddedFontLst>
    <p:embeddedFont>
      <p:font typeface="Plus Jakarta Sans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font" Target="fonts/PlusJakartaSans-regular.fntdata"/><Relationship Id="rId19" Type="http://schemas.openxmlformats.org/officeDocument/2006/relationships/font" Target="fonts/PlusJakartaSans-bold.fntdata"/><Relationship Id="rId20" Type="http://schemas.openxmlformats.org/officeDocument/2006/relationships/font" Target="fonts/PlusJakartaSans-italic.fntdata"/><Relationship Id="rId21" Type="http://schemas.openxmlformats.org/officeDocument/2006/relationships/font" Target="fonts/PlusJakartaSans-boldItalic.fntdata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2.png"/><Relationship Id="rId7" Type="http://schemas.openxmlformats.org/officeDocument/2006/relationships/image" Target="../media/image12.png"/><Relationship Id="rId8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1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7.png"/><Relationship Id="rId6" Type="http://schemas.openxmlformats.org/officeDocument/2006/relationships/image" Target="../media/image4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685800" y="2343875"/>
            <a:ext cx="86475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Deuda Técnica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685800" y="3429009"/>
            <a:ext cx="6762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Síntomas visibles, causas organizacionales y estrategias de remediación continua.</a:t>
            </a:r>
            <a:endParaRPr/>
          </a:p>
        </p:txBody>
      </p:sp>
      <p:pic>
        <p:nvPicPr>
          <p:cNvPr id="86" name="Google Shape;86;p13"/>
          <p:cNvPicPr preferRelativeResize="0"/>
          <p:nvPr/>
        </p:nvPicPr>
        <p:blipFill rotWithShape="1">
          <a:blip r:embed="rId3">
            <a:alphaModFix/>
          </a:blip>
          <a:srcRect b="16999" l="21548" r="21325" t="0"/>
          <a:stretch/>
        </p:blipFill>
        <p:spPr>
          <a:xfrm>
            <a:off x="9708400" y="3629525"/>
            <a:ext cx="1950227" cy="291892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685800" y="6333050"/>
            <a:ext cx="3051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Esp. Ingeniería de Software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DC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IMPACTO ECONÓMICO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609600" y="742950"/>
            <a:ext cx="11582400" cy="41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 Costo de los Atajos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4435078" y="2820292"/>
            <a:ext cx="332184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DC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42%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1893093" y="4153792"/>
            <a:ext cx="8405812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Tiempo de desarrollo consumido en pagar intereses técnicos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2827734" y="4515742"/>
            <a:ext cx="6536531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Cada decisión apresurada reduce la capacidad futura del equipo.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/>
          <p:nvPr/>
        </p:nvSpPr>
        <p:spPr>
          <a:xfrm>
            <a:off x="609600" y="2923282"/>
            <a:ext cx="3505200" cy="2089546"/>
          </a:xfrm>
          <a:prstGeom prst="roundRect">
            <a:avLst>
              <a:gd fmla="val 547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5"/>
          <p:cNvSpPr/>
          <p:nvPr/>
        </p:nvSpPr>
        <p:spPr>
          <a:xfrm>
            <a:off x="4343400" y="2923282"/>
            <a:ext cx="3505200" cy="2089546"/>
          </a:xfrm>
          <a:prstGeom prst="roundRect">
            <a:avLst>
              <a:gd fmla="val 547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5"/>
          <p:cNvSpPr/>
          <p:nvPr/>
        </p:nvSpPr>
        <p:spPr>
          <a:xfrm>
            <a:off x="8077200" y="2923282"/>
            <a:ext cx="3505200" cy="2089546"/>
          </a:xfrm>
          <a:prstGeom prst="roundRect">
            <a:avLst>
              <a:gd fmla="val 547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4" name="Google Shape;10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5825" y="323760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19625" y="323760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53425" y="323760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09650" y="3361432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43450" y="3361432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77250" y="3361432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DIAGNÓSTICO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609600" y="742950"/>
            <a:ext cx="11582400" cy="41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Síntomas Críticos en el Sistema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885825" y="3885307"/>
            <a:ext cx="387548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Modificaciones Frágiles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885825" y="4218682"/>
            <a:ext cx="30480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Múltiples incidencias ante cambios mínimos.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4619625" y="3885307"/>
            <a:ext cx="387548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Rendimiento Degradado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4619625" y="4218682"/>
            <a:ext cx="3690937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Software lento y recursos agotados.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8353425" y="3885307"/>
            <a:ext cx="383857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Código Intocable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8353425" y="4218682"/>
            <a:ext cx="30480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Módulos temidos por todo el equipo.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6"/>
          <p:cNvSpPr/>
          <p:nvPr/>
        </p:nvSpPr>
        <p:spPr>
          <a:xfrm>
            <a:off x="6324600" y="2948880"/>
            <a:ext cx="52578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6324600" y="3691830"/>
            <a:ext cx="52578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6"/>
          <p:cNvSpPr/>
          <p:nvPr/>
        </p:nvSpPr>
        <p:spPr>
          <a:xfrm>
            <a:off x="6324600" y="4434780"/>
            <a:ext cx="52578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6"/>
          <p:cNvSpPr/>
          <p:nvPr/>
        </p:nvSpPr>
        <p:spPr>
          <a:xfrm>
            <a:off x="6324600" y="2948880"/>
            <a:ext cx="38100" cy="51435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6"/>
          <p:cNvSpPr/>
          <p:nvPr/>
        </p:nvSpPr>
        <p:spPr>
          <a:xfrm>
            <a:off x="6324600" y="3691830"/>
            <a:ext cx="38100" cy="5143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6"/>
          <p:cNvSpPr/>
          <p:nvPr/>
        </p:nvSpPr>
        <p:spPr>
          <a:xfrm>
            <a:off x="6324600" y="4434780"/>
            <a:ext cx="38100" cy="5143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8" name="Google Shape;12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1853505"/>
            <a:ext cx="5257800" cy="419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" y="1853505"/>
            <a:ext cx="5257800" cy="419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DIAGNÓSTICO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609600" y="742950"/>
            <a:ext cx="11582400" cy="41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Síntomas en el Equipo y Operación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6553200" y="2948880"/>
            <a:ext cx="56388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Dependencias Obsoletas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6553200" y="3244155"/>
            <a:ext cx="56388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Librerías desactualizadas e imposibles de migrar.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6553200" y="3691830"/>
            <a:ext cx="56388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Dificultad de Reclutamiento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6553200" y="3987105"/>
            <a:ext cx="56388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Curva de entrada excesiva para desarrolladores nuevos.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6553200" y="4434780"/>
            <a:ext cx="56388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Entregas a Ciegas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6553200" y="4730055"/>
            <a:ext cx="56388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Despliegues continuos sin validación formal de calidad.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7"/>
          <p:cNvSpPr/>
          <p:nvPr/>
        </p:nvSpPr>
        <p:spPr>
          <a:xfrm>
            <a:off x="609600" y="2960489"/>
            <a:ext cx="2600325" cy="1977032"/>
          </a:xfrm>
          <a:prstGeom prst="roundRect">
            <a:avLst>
              <a:gd fmla="val 5781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7"/>
          <p:cNvSpPr/>
          <p:nvPr/>
        </p:nvSpPr>
        <p:spPr>
          <a:xfrm>
            <a:off x="3400425" y="2960489"/>
            <a:ext cx="2600325" cy="1977032"/>
          </a:xfrm>
          <a:prstGeom prst="roundRect">
            <a:avLst>
              <a:gd fmla="val 5781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/>
          <p:nvPr/>
        </p:nvSpPr>
        <p:spPr>
          <a:xfrm>
            <a:off x="6191250" y="2960489"/>
            <a:ext cx="2600325" cy="1977032"/>
          </a:xfrm>
          <a:prstGeom prst="roundRect">
            <a:avLst>
              <a:gd fmla="val 5781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7"/>
          <p:cNvSpPr/>
          <p:nvPr/>
        </p:nvSpPr>
        <p:spPr>
          <a:xfrm>
            <a:off x="8982075" y="2960489"/>
            <a:ext cx="2600325" cy="1977032"/>
          </a:xfrm>
          <a:prstGeom prst="roundRect">
            <a:avLst>
              <a:gd fmla="val 5781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ESTÁNDARES INTERNACIONALES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609600" y="742950"/>
            <a:ext cx="11582400" cy="41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Marcos ISO/IEC/IEEE para Mitigar Deuda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809625" y="3236714"/>
            <a:ext cx="275034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ISO/IEC/IEEE 12207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809625" y="3484364"/>
            <a:ext cx="28878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Ciclo de Vida Software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809625" y="3808214"/>
            <a:ext cx="2295525" cy="853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Gobernanza de procesos técnicos, transición formal y mantenimiento evolutivo disciplinado.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3600450" y="3236714"/>
            <a:ext cx="275034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ISO/IEC/IEEE 16326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3600450" y="3484364"/>
            <a:ext cx="28878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Gestión de Proyectos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3600450" y="3808214"/>
            <a:ext cx="2295525" cy="853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Planificación de contingencias, cálculo de riesgos e impacto de plazos forzados.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6391275" y="3236714"/>
            <a:ext cx="275034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ISO/IEC/IEEE 29148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6391275" y="3484364"/>
            <a:ext cx="28878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Ingeniería de Requisitos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6391275" y="3808214"/>
            <a:ext cx="2295525" cy="853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Prevención de ambigüedad, control de alcance y trazabilidad de requerimientos.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9182100" y="3236714"/>
            <a:ext cx="275034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ISO/IEC 25010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9182100" y="3484364"/>
            <a:ext cx="28878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Modelo de Calidad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9182100" y="3808214"/>
            <a:ext cx="2295525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Evaluación cuantitativa de mantenibilidad, modularidad y reusabilidad.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/>
          <p:nvPr/>
        </p:nvSpPr>
        <p:spPr>
          <a:xfrm>
            <a:off x="609600" y="1497210"/>
            <a:ext cx="5314950" cy="4903589"/>
          </a:xfrm>
          <a:prstGeom prst="roundRect">
            <a:avLst>
              <a:gd fmla="val 2330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/>
          <p:cNvSpPr/>
          <p:nvPr/>
        </p:nvSpPr>
        <p:spPr>
          <a:xfrm>
            <a:off x="6267450" y="1497210"/>
            <a:ext cx="5314950" cy="4903589"/>
          </a:xfrm>
          <a:prstGeom prst="roundRect">
            <a:avLst>
              <a:gd fmla="val 2330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ORIGEN DEL PROBLEMA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609600" y="742950"/>
            <a:ext cx="11582400" cy="41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Causas Humanas y Organizacionales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952500" y="2810172"/>
            <a:ext cx="6075759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Fricciones de Proceso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6610350" y="2810172"/>
            <a:ext cx="55816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Personas y Capacidades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952500" y="3305472"/>
            <a:ext cx="47244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Desarrollos en paralelo: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Ausencia de sincronización y merge continuo.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952500" y="3956744"/>
            <a:ext cx="47244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Externalización aislada: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Código de terceros sin inspección estricta.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952500" y="4608016"/>
            <a:ext cx="47244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Procesos volátiles: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Modificaciones abruptas de alcance en ejecución.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6610350" y="3305472"/>
            <a:ext cx="47244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Brecha técnica: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Desconocimiento de patrones SOLID y testing.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6610350" y="3956744"/>
            <a:ext cx="47244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Urgencia ficticia: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Priorizar salidas prematuras sin Definition of Done.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6610350" y="4608016"/>
            <a:ext cx="47244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Cero documentación: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Dependencia crítica del conocimiento de un solo autor.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9"/>
          <p:cNvSpPr/>
          <p:nvPr/>
        </p:nvSpPr>
        <p:spPr>
          <a:xfrm>
            <a:off x="609600" y="3009007"/>
            <a:ext cx="3505200" cy="1879996"/>
          </a:xfrm>
          <a:prstGeom prst="roundRect">
            <a:avLst>
              <a:gd fmla="val 6079" name="adj"/>
            </a:avLst>
          </a:prstGeom>
          <a:solidFill>
            <a:srgbClr val="F0F9FF"/>
          </a:solidFill>
          <a:ln cap="flat" cmpd="sng" w="9525">
            <a:solidFill>
              <a:srgbClr val="BAE6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9"/>
          <p:cNvSpPr/>
          <p:nvPr/>
        </p:nvSpPr>
        <p:spPr>
          <a:xfrm>
            <a:off x="4343400" y="3009007"/>
            <a:ext cx="3505200" cy="1879996"/>
          </a:xfrm>
          <a:prstGeom prst="roundRect">
            <a:avLst>
              <a:gd fmla="val 6079" name="adj"/>
            </a:avLst>
          </a:prstGeom>
          <a:solidFill>
            <a:srgbClr val="F0F9FF"/>
          </a:solidFill>
          <a:ln cap="flat" cmpd="sng" w="9525">
            <a:solidFill>
              <a:srgbClr val="BAE6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9"/>
          <p:cNvSpPr/>
          <p:nvPr/>
        </p:nvSpPr>
        <p:spPr>
          <a:xfrm>
            <a:off x="8077200" y="3009007"/>
            <a:ext cx="3505200" cy="1879996"/>
          </a:xfrm>
          <a:prstGeom prst="roundRect">
            <a:avLst>
              <a:gd fmla="val 6079" name="adj"/>
            </a:avLst>
          </a:prstGeom>
          <a:solidFill>
            <a:srgbClr val="F0F9FF"/>
          </a:solidFill>
          <a:ln cap="flat" cmpd="sng" w="9525">
            <a:solidFill>
              <a:srgbClr val="BAE6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83" name="Google Shape;18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7725" y="3323332"/>
            <a:ext cx="30289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15325" y="3323332"/>
            <a:ext cx="30289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9"/>
          <p:cNvSpPr txBox="1"/>
          <p:nvPr/>
        </p:nvSpPr>
        <p:spPr>
          <a:xfrm>
            <a:off x="609600" y="742950"/>
            <a:ext cx="11582400" cy="41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Principios de Gestión en Producción Real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847725" y="3761482"/>
            <a:ext cx="3975496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Deuda Deliberada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847725" y="4094857"/>
            <a:ext cx="31242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Aceptable solo si es visible, trazada en backlog y con fecha de pago.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4581525" y="3513832"/>
            <a:ext cx="3975496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Quality Gates de CI/CD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4581525" y="3847207"/>
            <a:ext cx="31242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SonarQube y linters bloquean merges si la cobertura baja del 80%.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8315325" y="3761482"/>
            <a:ext cx="387667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Regla del Boy Scout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8315325" y="4094857"/>
            <a:ext cx="31242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Deja cada módulo más limpio de lo que lo encontraste al editar.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0"/>
          <p:cNvSpPr/>
          <p:nvPr/>
        </p:nvSpPr>
        <p:spPr>
          <a:xfrm>
            <a:off x="609600" y="2923282"/>
            <a:ext cx="3505200" cy="2089546"/>
          </a:xfrm>
          <a:prstGeom prst="roundRect">
            <a:avLst>
              <a:gd fmla="val 5470" name="adj"/>
            </a:avLst>
          </a:prstGeom>
          <a:solidFill>
            <a:srgbClr val="F0FDF4"/>
          </a:solidFill>
          <a:ln cap="flat" cmpd="sng" w="9525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4343400" y="2923282"/>
            <a:ext cx="3505200" cy="2089546"/>
          </a:xfrm>
          <a:prstGeom prst="roundRect">
            <a:avLst>
              <a:gd fmla="val 5470" name="adj"/>
            </a:avLst>
          </a:prstGeom>
          <a:solidFill>
            <a:srgbClr val="F0FDF4"/>
          </a:solidFill>
          <a:ln cap="flat" cmpd="sng" w="9525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8077200" y="2923282"/>
            <a:ext cx="3505200" cy="2089546"/>
          </a:xfrm>
          <a:prstGeom prst="roundRect">
            <a:avLst>
              <a:gd fmla="val 5470" name="adj"/>
            </a:avLst>
          </a:prstGeom>
          <a:solidFill>
            <a:srgbClr val="F0FDF4"/>
          </a:solidFill>
          <a:ln cap="flat" cmpd="sng" w="9525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9" name="Google Shape;19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7725" y="323760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81525" y="323760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15325" y="323760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1550" y="3361432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05350" y="3361432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39150" y="3361432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0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6A3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REMEDIACIÓN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609600" y="742950"/>
            <a:ext cx="11582400" cy="41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Pilares de Resolución</a:t>
            </a: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847725" y="3885307"/>
            <a:ext cx="3975496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Cultura de Orden</a:t>
            </a:r>
            <a:endParaRPr/>
          </a:p>
        </p:txBody>
      </p:sp>
      <p:sp>
        <p:nvSpPr>
          <p:cNvPr id="208" name="Google Shape;208;p20"/>
          <p:cNvSpPr txBox="1"/>
          <p:nvPr/>
        </p:nvSpPr>
        <p:spPr>
          <a:xfrm>
            <a:off x="847725" y="4218682"/>
            <a:ext cx="31242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7415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Disciplina diaria en tipado y pruebas unitarias.</a:t>
            </a:r>
            <a:endParaRPr/>
          </a:p>
        </p:txBody>
      </p:sp>
      <p:sp>
        <p:nvSpPr>
          <p:cNvPr id="209" name="Google Shape;209;p20"/>
          <p:cNvSpPr txBox="1"/>
          <p:nvPr/>
        </p:nvSpPr>
        <p:spPr>
          <a:xfrm>
            <a:off x="4581525" y="3885307"/>
            <a:ext cx="3975496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Refactor Planificado</a:t>
            </a:r>
            <a:endParaRPr/>
          </a:p>
        </p:txBody>
      </p:sp>
      <p:sp>
        <p:nvSpPr>
          <p:cNvPr id="210" name="Google Shape;210;p20"/>
          <p:cNvSpPr txBox="1"/>
          <p:nvPr/>
        </p:nvSpPr>
        <p:spPr>
          <a:xfrm>
            <a:off x="4581525" y="4218682"/>
            <a:ext cx="31242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7415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20% de cada sprint reservado para sanear deuda.</a:t>
            </a:r>
            <a:endParaRPr/>
          </a:p>
        </p:txBody>
      </p:sp>
      <p:sp>
        <p:nvSpPr>
          <p:cNvPr id="211" name="Google Shape;211;p20"/>
          <p:cNvSpPr txBox="1"/>
          <p:nvPr/>
        </p:nvSpPr>
        <p:spPr>
          <a:xfrm>
            <a:off x="8315325" y="3885307"/>
            <a:ext cx="387667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Diseño Resiliente</a:t>
            </a:r>
            <a:endParaRPr/>
          </a:p>
        </p:txBody>
      </p:sp>
      <p:sp>
        <p:nvSpPr>
          <p:cNvPr id="212" name="Google Shape;212;p20"/>
          <p:cNvSpPr txBox="1"/>
          <p:nvPr/>
        </p:nvSpPr>
        <p:spPr>
          <a:xfrm>
            <a:off x="8315325" y="4218682"/>
            <a:ext cx="31242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7415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Arquitectura hexagonal que aísla dependencias volátiles.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1"/>
          <p:cNvSpPr/>
          <p:nvPr/>
        </p:nvSpPr>
        <p:spPr>
          <a:xfrm>
            <a:off x="3162300" y="3433717"/>
            <a:ext cx="5257800" cy="10764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1"/>
          <p:cNvSpPr/>
          <p:nvPr/>
        </p:nvSpPr>
        <p:spPr>
          <a:xfrm>
            <a:off x="3162300" y="3433717"/>
            <a:ext cx="38100" cy="1076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1"/>
          <p:cNvSpPr txBox="1"/>
          <p:nvPr/>
        </p:nvSpPr>
        <p:spPr>
          <a:xfrm>
            <a:off x="609600" y="742950"/>
            <a:ext cx="11582400" cy="41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Taller Práctico: El Monolito Tóxico</a:t>
            </a:r>
            <a:endParaRPr/>
          </a:p>
        </p:txBody>
      </p:sp>
      <p:sp>
        <p:nvSpPr>
          <p:cNvPr id="220" name="Google Shape;220;p21"/>
          <p:cNvSpPr txBox="1"/>
          <p:nvPr/>
        </p:nvSpPr>
        <p:spPr>
          <a:xfrm>
            <a:off x="3162300" y="2347867"/>
            <a:ext cx="5867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Propósito del Ejercicio</a:t>
            </a:r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3162300" y="2690767"/>
            <a:ext cx="53532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Simular el relevo forzado de un servicio sin tests, con variables ilegibles y dependencias obsoletas.</a:t>
            </a:r>
            <a:endParaRPr/>
          </a:p>
        </p:txBody>
      </p:sp>
      <p:sp>
        <p:nvSpPr>
          <p:cNvPr id="222" name="Google Shape;222;p21"/>
          <p:cNvSpPr txBox="1"/>
          <p:nvPr/>
        </p:nvSpPr>
        <p:spPr>
          <a:xfrm>
            <a:off x="3429000" y="3624217"/>
            <a:ext cx="5600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2400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Dinámica de Trabajo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3429000" y="3881392"/>
            <a:ext cx="4857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78350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Equipos de 2 a 3 personas rotando sobre un repositorio Git compartido.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2"/>
          <p:cNvSpPr/>
          <p:nvPr/>
        </p:nvSpPr>
        <p:spPr>
          <a:xfrm>
            <a:off x="3254863" y="2520550"/>
            <a:ext cx="5097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2"/>
          <p:cNvSpPr/>
          <p:nvPr/>
        </p:nvSpPr>
        <p:spPr>
          <a:xfrm>
            <a:off x="3254863" y="3168250"/>
            <a:ext cx="50970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2"/>
          <p:cNvSpPr/>
          <p:nvPr/>
        </p:nvSpPr>
        <p:spPr>
          <a:xfrm>
            <a:off x="3254863" y="4015975"/>
            <a:ext cx="5097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2"/>
          <p:cNvSpPr/>
          <p:nvPr/>
        </p:nvSpPr>
        <p:spPr>
          <a:xfrm>
            <a:off x="3254863" y="2520550"/>
            <a:ext cx="3660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2"/>
          <p:cNvSpPr/>
          <p:nvPr/>
        </p:nvSpPr>
        <p:spPr>
          <a:xfrm>
            <a:off x="3254863" y="3168250"/>
            <a:ext cx="36600" cy="6573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2"/>
          <p:cNvSpPr/>
          <p:nvPr/>
        </p:nvSpPr>
        <p:spPr>
          <a:xfrm>
            <a:off x="3254863" y="4015975"/>
            <a:ext cx="36600" cy="457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D9770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ESPECIFICACIÓN DEL REPOSITORIO</a:t>
            </a:r>
            <a:endParaRPr/>
          </a:p>
        </p:txBody>
      </p:sp>
      <p:sp>
        <p:nvSpPr>
          <p:cNvPr id="235" name="Google Shape;235;p22"/>
          <p:cNvSpPr txBox="1"/>
          <p:nvPr/>
        </p:nvSpPr>
        <p:spPr>
          <a:xfrm>
            <a:off x="609600" y="742950"/>
            <a:ext cx="11582400" cy="41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Estructura del Proyecto Starter en Git</a:t>
            </a:r>
            <a:endParaRPr/>
          </a:p>
        </p:txBody>
      </p:sp>
      <p:sp>
        <p:nvSpPr>
          <p:cNvPr id="236" name="Google Shape;236;p22"/>
          <p:cNvSpPr txBox="1"/>
          <p:nvPr/>
        </p:nvSpPr>
        <p:spPr>
          <a:xfrm>
            <a:off x="3456147" y="2520550"/>
            <a:ext cx="5481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Paso 1: Clonar y Explorar</a:t>
            </a:r>
            <a:endParaRPr/>
          </a:p>
        </p:txBody>
      </p:sp>
      <p:sp>
        <p:nvSpPr>
          <p:cNvPr id="237" name="Google Shape;237;p22"/>
          <p:cNvSpPr txBox="1"/>
          <p:nvPr/>
        </p:nvSpPr>
        <p:spPr>
          <a:xfrm>
            <a:off x="3456147" y="2777725"/>
            <a:ext cx="5481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Descargar el repositorio y verificar la ausencia de linters y tests.</a:t>
            </a:r>
            <a:endParaRPr/>
          </a:p>
        </p:txBody>
      </p:sp>
      <p:sp>
        <p:nvSpPr>
          <p:cNvPr id="238" name="Google Shape;238;p22"/>
          <p:cNvSpPr txBox="1"/>
          <p:nvPr/>
        </p:nvSpPr>
        <p:spPr>
          <a:xfrm>
            <a:off x="3456147" y="3168250"/>
            <a:ext cx="5481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Paso 2: Bifurcación Descoordinada</a:t>
            </a:r>
            <a:endParaRPr/>
          </a:p>
        </p:txBody>
      </p:sp>
      <p:sp>
        <p:nvSpPr>
          <p:cNvPr id="239" name="Google Shape;239;p22"/>
          <p:cNvSpPr txBox="1"/>
          <p:nvPr/>
        </p:nvSpPr>
        <p:spPr>
          <a:xfrm>
            <a:off x="3456147" y="3425425"/>
            <a:ext cx="498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Equipo A y Equipo B abren ramas paralelas para editar el mismo archivo.</a:t>
            </a:r>
            <a:endParaRPr/>
          </a:p>
        </p:txBody>
      </p:sp>
      <p:sp>
        <p:nvSpPr>
          <p:cNvPr id="240" name="Google Shape;240;p22"/>
          <p:cNvSpPr txBox="1"/>
          <p:nvPr/>
        </p:nvSpPr>
        <p:spPr>
          <a:xfrm>
            <a:off x="3456147" y="4015975"/>
            <a:ext cx="5481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Paso 3: Colisión en Pull Request</a:t>
            </a:r>
            <a:endParaRPr/>
          </a:p>
        </p:txBody>
      </p:sp>
      <p:sp>
        <p:nvSpPr>
          <p:cNvPr id="241" name="Google Shape;241;p22"/>
          <p:cNvSpPr txBox="1"/>
          <p:nvPr/>
        </p:nvSpPr>
        <p:spPr>
          <a:xfrm>
            <a:off x="3456147" y="4273150"/>
            <a:ext cx="5481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Conflictos masivos de merge y fallos en producción simulada.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3"/>
          <p:cNvSpPr/>
          <p:nvPr/>
        </p:nvSpPr>
        <p:spPr>
          <a:xfrm>
            <a:off x="609600" y="3032819"/>
            <a:ext cx="3505200" cy="1908571"/>
          </a:xfrm>
          <a:prstGeom prst="roundRect">
            <a:avLst>
              <a:gd fmla="val 5988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3"/>
          <p:cNvSpPr/>
          <p:nvPr/>
        </p:nvSpPr>
        <p:spPr>
          <a:xfrm>
            <a:off x="4343400" y="3032819"/>
            <a:ext cx="3505200" cy="1908571"/>
          </a:xfrm>
          <a:prstGeom prst="roundRect">
            <a:avLst>
              <a:gd fmla="val 5988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3"/>
          <p:cNvSpPr/>
          <p:nvPr/>
        </p:nvSpPr>
        <p:spPr>
          <a:xfrm>
            <a:off x="8077200" y="3032819"/>
            <a:ext cx="3505200" cy="1908571"/>
          </a:xfrm>
          <a:prstGeom prst="roundRect">
            <a:avLst>
              <a:gd fmla="val 5988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3"/>
          <p:cNvSpPr/>
          <p:nvPr/>
        </p:nvSpPr>
        <p:spPr>
          <a:xfrm>
            <a:off x="847725" y="3347144"/>
            <a:ext cx="1485900" cy="314325"/>
          </a:xfrm>
          <a:prstGeom prst="roundRect">
            <a:avLst>
              <a:gd fmla="val 18181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3"/>
          <p:cNvSpPr/>
          <p:nvPr/>
        </p:nvSpPr>
        <p:spPr>
          <a:xfrm>
            <a:off x="4581525" y="3347144"/>
            <a:ext cx="1476375" cy="314325"/>
          </a:xfrm>
          <a:prstGeom prst="roundRect">
            <a:avLst>
              <a:gd fmla="val 18181" name="adj"/>
            </a:avLst>
          </a:prstGeom>
          <a:solidFill>
            <a:srgbClr val="FEE2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3"/>
          <p:cNvSpPr/>
          <p:nvPr/>
        </p:nvSpPr>
        <p:spPr>
          <a:xfrm>
            <a:off x="8315325" y="3347144"/>
            <a:ext cx="1514475" cy="314325"/>
          </a:xfrm>
          <a:prstGeom prst="roundRect">
            <a:avLst>
              <a:gd fmla="val 18181" name="adj"/>
            </a:avLst>
          </a:prstGeom>
          <a:solidFill>
            <a:srgbClr val="DCFCE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3"/>
          <p:cNvSpPr txBox="1"/>
          <p:nvPr/>
        </p:nvSpPr>
        <p:spPr>
          <a:xfrm>
            <a:off x="609600" y="742950"/>
            <a:ext cx="11582400" cy="41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Tres Rondas de Tensión Realista</a:t>
            </a:r>
            <a:endParaRPr/>
          </a:p>
        </p:txBody>
      </p:sp>
      <p:sp>
        <p:nvSpPr>
          <p:cNvPr id="253" name="Google Shape;253;p23"/>
          <p:cNvSpPr txBox="1"/>
          <p:nvPr/>
        </p:nvSpPr>
        <p:spPr>
          <a:xfrm>
            <a:off x="981075" y="3404294"/>
            <a:ext cx="13144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40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Ronda 1 • 20 min</a:t>
            </a:r>
            <a:endParaRPr/>
          </a:p>
        </p:txBody>
      </p:sp>
      <p:sp>
        <p:nvSpPr>
          <p:cNvPr id="254" name="Google Shape;254;p23"/>
          <p:cNvSpPr txBox="1"/>
          <p:nvPr/>
        </p:nvSpPr>
        <p:spPr>
          <a:xfrm>
            <a:off x="847725" y="3813869"/>
            <a:ext cx="3975496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Presión de Entrega</a:t>
            </a:r>
            <a:endParaRPr/>
          </a:p>
        </p:txBody>
      </p:sp>
      <p:sp>
        <p:nvSpPr>
          <p:cNvPr id="255" name="Google Shape;255;p23"/>
          <p:cNvSpPr txBox="1"/>
          <p:nvPr/>
        </p:nvSpPr>
        <p:spPr>
          <a:xfrm>
            <a:off x="847725" y="4147244"/>
            <a:ext cx="31242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Agregar descuentos exprés sin tests ni tipado.</a:t>
            </a:r>
            <a:endParaRPr/>
          </a:p>
        </p:txBody>
      </p:sp>
      <p:sp>
        <p:nvSpPr>
          <p:cNvPr id="256" name="Google Shape;256;p23"/>
          <p:cNvSpPr txBox="1"/>
          <p:nvPr/>
        </p:nvSpPr>
        <p:spPr>
          <a:xfrm>
            <a:off x="4714875" y="3404294"/>
            <a:ext cx="13049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9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Ronda 2 • 15 min</a:t>
            </a:r>
            <a:endParaRPr/>
          </a:p>
        </p:txBody>
      </p:sp>
      <p:sp>
        <p:nvSpPr>
          <p:cNvPr id="257" name="Google Shape;257;p23"/>
          <p:cNvSpPr txBox="1"/>
          <p:nvPr/>
        </p:nvSpPr>
        <p:spPr>
          <a:xfrm>
            <a:off x="4581525" y="3813869"/>
            <a:ext cx="3975496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Intercambio de Rama</a:t>
            </a:r>
            <a:endParaRPr/>
          </a:p>
        </p:txBody>
      </p:sp>
      <p:sp>
        <p:nvSpPr>
          <p:cNvPr id="258" name="Google Shape;258;p23"/>
          <p:cNvSpPr txBox="1"/>
          <p:nvPr/>
        </p:nvSpPr>
        <p:spPr>
          <a:xfrm>
            <a:off x="4581525" y="4147244"/>
            <a:ext cx="31242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Trabajar sobre el commit ajeno sin explicaciones.</a:t>
            </a:r>
            <a:endParaRPr/>
          </a:p>
        </p:txBody>
      </p:sp>
      <p:sp>
        <p:nvSpPr>
          <p:cNvPr id="259" name="Google Shape;259;p23"/>
          <p:cNvSpPr txBox="1"/>
          <p:nvPr/>
        </p:nvSpPr>
        <p:spPr>
          <a:xfrm>
            <a:off x="8448675" y="3404294"/>
            <a:ext cx="13430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Ronda 3 • 25 min</a:t>
            </a:r>
            <a:endParaRPr/>
          </a:p>
        </p:txBody>
      </p:sp>
      <p:sp>
        <p:nvSpPr>
          <p:cNvPr id="260" name="Google Shape;260;p23"/>
          <p:cNvSpPr txBox="1"/>
          <p:nvPr/>
        </p:nvSpPr>
        <p:spPr>
          <a:xfrm>
            <a:off x="8315325" y="3813869"/>
            <a:ext cx="387667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Saneamiento ISO</a:t>
            </a:r>
            <a:endParaRPr/>
          </a:p>
        </p:txBody>
      </p:sp>
      <p:sp>
        <p:nvSpPr>
          <p:cNvPr id="261" name="Google Shape;261;p23"/>
          <p:cNvSpPr txBox="1"/>
          <p:nvPr/>
        </p:nvSpPr>
        <p:spPr>
          <a:xfrm>
            <a:off x="8315325" y="4147244"/>
            <a:ext cx="31242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Introducir pruebas de caracterización y refactorizar.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4"/>
          <p:cNvSpPr txBox="1"/>
          <p:nvPr/>
        </p:nvSpPr>
        <p:spPr>
          <a:xfrm>
            <a:off x="1657945" y="2716559"/>
            <a:ext cx="8876109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 Software Envejece Cada Día</a:t>
            </a:r>
            <a:endParaRPr/>
          </a:p>
        </p:txBody>
      </p:sp>
      <p:sp>
        <p:nvSpPr>
          <p:cNvPr id="267" name="Google Shape;267;p24"/>
          <p:cNvSpPr txBox="1"/>
          <p:nvPr/>
        </p:nvSpPr>
        <p:spPr>
          <a:xfrm>
            <a:off x="1809750" y="3493740"/>
            <a:ext cx="85725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Los estándares internacionales y el mantenimiento preventivo no son burocracia: son el único seguro contra el colapso operativo.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42" name="Google Shape;142;p17"/>
          <p:cNvSpPr/>
          <p:nvPr/>
        </p:nvSpPr>
        <p:spPr>
          <a:xfrm>
            <a:off x="609600" y="2960489"/>
            <a:ext cx="2600325" cy="1977032"/>
          </a:xfrm>
          <a:prstGeom prst="roundRect">
            <a:avLst>
              <a:gd fmla="val 5781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7"/>
          <p:cNvSpPr/>
          <p:nvPr/>
        </p:nvSpPr>
        <p:spPr>
          <a:xfrm>
            <a:off x="3400425" y="2960489"/>
            <a:ext cx="2600325" cy="1977032"/>
          </a:xfrm>
          <a:prstGeom prst="roundRect">
            <a:avLst>
              <a:gd fmla="val 5781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/>
          <p:nvPr/>
        </p:nvSpPr>
        <p:spPr>
          <a:xfrm>
            <a:off x="6191250" y="2960489"/>
            <a:ext cx="2600325" cy="1977032"/>
          </a:xfrm>
          <a:prstGeom prst="roundRect">
            <a:avLst>
              <a:gd fmla="val 5781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7"/>
          <p:cNvSpPr/>
          <p:nvPr/>
        </p:nvSpPr>
        <p:spPr>
          <a:xfrm>
            <a:off x="8982075" y="2960489"/>
            <a:ext cx="2600325" cy="1977032"/>
          </a:xfrm>
          <a:prstGeom prst="roundRect">
            <a:avLst>
              <a:gd fmla="val 5781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1">
                <a:solidFill>
                  <a:srgbClr val="2563EB"/>
                </a:solidFill>
                <a:latin typeface="Plus Jakarta Sans"/>
              </a:rPr>
              <a:t>CLASIFICACIÓN ESTRATÉGICA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609600" y="742950"/>
            <a:ext cx="11582400" cy="41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700" b="1">
                <a:solidFill>
                  <a:srgbClr val="0F172A"/>
                </a:solidFill>
                <a:latin typeface="Plus Jakarta Sans"/>
              </a:rPr>
              <a:t>El Cuadrante de Martin Fowler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809625" y="3236714"/>
            <a:ext cx="275034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1">
                <a:solidFill>
                  <a:srgbClr val="2563EB"/>
                </a:solidFill>
                <a:latin typeface="Plus Jakarta Sans"/>
              </a:rPr>
              <a:t>DELIBERADA • PRUDENTE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809625" y="3484364"/>
            <a:ext cx="28878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25" b="1">
                <a:solidFill>
                  <a:srgbClr val="0F172A"/>
                </a:solidFill>
                <a:latin typeface="Plus Jakarta Sans"/>
              </a:rPr>
              <a:t>Deuda Táctica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809625" y="3808214"/>
            <a:ext cx="2295525" cy="853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475569"/>
                </a:solidFill>
                <a:latin typeface="Plus Jakarta Sans"/>
              </a:rPr>
              <a:t>«Debemos salir a producción ya; conocemos las concesiones y las pagaremos en el sprint siguiente.» Decisión consciente de negocio.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3600450" y="3236714"/>
            <a:ext cx="275034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1">
                <a:solidFill>
                  <a:srgbClr val="DC2626"/>
                </a:solidFill>
                <a:latin typeface="Plus Jakarta Sans"/>
              </a:rPr>
              <a:t>DELIBERADA • TEMERARIA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3600450" y="3484364"/>
            <a:ext cx="28878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25" b="1">
                <a:solidFill>
                  <a:srgbClr val="0F172A"/>
                </a:solidFill>
                <a:latin typeface="Plus Jakarta Sans"/>
              </a:rPr>
              <a:t>Deuda Negligente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3600450" y="3808214"/>
            <a:ext cx="2295525" cy="853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475569"/>
                </a:solidFill>
                <a:latin typeface="Plus Jakarta Sans"/>
              </a:rPr>
              <a:t>«No hay tiempo para diseño ni testing, solo lancen código.» Genera bancarrota técnica acelerada y colapso operacional.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6391275" y="3236714"/>
            <a:ext cx="275034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1">
                <a:solidFill>
                  <a:srgbClr val="2563EB"/>
                </a:solidFill>
                <a:latin typeface="Plus Jakarta Sans"/>
              </a:rPr>
              <a:t>INADVERTIDA • PRUDENTE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6391275" y="3484364"/>
            <a:ext cx="28878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25" b="1">
                <a:solidFill>
                  <a:srgbClr val="0F172A"/>
                </a:solidFill>
                <a:latin typeface="Plus Jakarta Sans"/>
              </a:rPr>
              <a:t>Deuda por Aprendizaje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6391275" y="3808214"/>
            <a:ext cx="2295525" cy="853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475569"/>
                </a:solidFill>
                <a:latin typeface="Plus Jakarta Sans"/>
              </a:rPr>
              <a:t>«Ahora que entendemos mejor el dominio, rediseñaríamos el módulo.» Consecuencia natural de la evolución y maduración del producto.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9182100" y="3236714"/>
            <a:ext cx="275034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1">
                <a:solidFill>
                  <a:srgbClr val="DC2626"/>
                </a:solidFill>
                <a:latin typeface="Plus Jakarta Sans"/>
              </a:rPr>
              <a:t>INADVERTIDA • TEMERARIA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9182100" y="3484364"/>
            <a:ext cx="28878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25" b="1">
                <a:solidFill>
                  <a:srgbClr val="0F172A"/>
                </a:solidFill>
                <a:latin typeface="Plus Jakarta Sans"/>
              </a:rPr>
              <a:t>Deuda por Incompetencia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9182100" y="3808214"/>
            <a:ext cx="2295525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475569"/>
                </a:solidFill>
                <a:latin typeface="Plus Jakarta Sans"/>
              </a:rPr>
              <a:t>«¿Qué son patrones SOLID o modularidad?» Desconocimiento técnico que genera software imposible de mantener o testear.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6" name="Google Shape;196;p20"/>
          <p:cNvSpPr/>
          <p:nvPr/>
        </p:nvSpPr>
        <p:spPr>
          <a:xfrm>
            <a:off x="609600" y="2923282"/>
            <a:ext cx="3505200" cy="2089546"/>
          </a:xfrm>
          <a:prstGeom prst="roundRect">
            <a:avLst>
              <a:gd fmla="val 5470" name="adj"/>
            </a:avLst>
          </a:prstGeom>
          <a:solidFill>
            <a:srgbClr val="F0FDF4"/>
          </a:solidFill>
          <a:ln cap="flat" cmpd="sng" w="9525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4343400" y="2923282"/>
            <a:ext cx="3505200" cy="2089546"/>
          </a:xfrm>
          <a:prstGeom prst="roundRect">
            <a:avLst>
              <a:gd fmla="val 5470" name="adj"/>
            </a:avLst>
          </a:prstGeom>
          <a:solidFill>
            <a:srgbClr val="F0FDF4"/>
          </a:solidFill>
          <a:ln cap="flat" cmpd="sng" w="9525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8077200" y="2923282"/>
            <a:ext cx="3505200" cy="2089546"/>
          </a:xfrm>
          <a:prstGeom prst="roundRect">
            <a:avLst>
              <a:gd fmla="val 5470" name="adj"/>
            </a:avLst>
          </a:prstGeom>
          <a:solidFill>
            <a:srgbClr val="F0FDF4"/>
          </a:solidFill>
          <a:ln cap="flat" cmpd="sng" w="9525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9" name="Google Shape;19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7725" y="323760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81525" y="323760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15325" y="323760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1550" y="3361432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05350" y="3361432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39150" y="3361432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0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1">
                <a:solidFill>
                  <a:srgbClr val="2563EB"/>
                </a:solidFill>
                <a:latin typeface="Plus Jakarta Sans"/>
              </a:rPr>
              <a:t>MEDICIÓN Y GOBERNANZA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609600" y="742950"/>
            <a:ext cx="11582400" cy="41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700" b="1">
                <a:solidFill>
                  <a:srgbClr val="0F172A"/>
                </a:solidFill>
                <a:latin typeface="Plus Jakarta Sans"/>
              </a:rPr>
              <a:t>Métricas Objetivas de Deuda Técnica</a:t>
            </a: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847725" y="3885307"/>
            <a:ext cx="3975496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0F172A"/>
                </a:solidFill>
                <a:latin typeface="Plus Jakarta Sans"/>
              </a:rPr>
              <a:t>TDR e Índice SQALE</a:t>
            </a:r>
            <a:endParaRPr/>
          </a:p>
        </p:txBody>
      </p:sp>
      <p:sp>
        <p:nvSpPr>
          <p:cNvPr id="208" name="Google Shape;208;p20"/>
          <p:cNvSpPr txBox="1"/>
          <p:nvPr/>
        </p:nvSpPr>
        <p:spPr>
          <a:xfrm>
            <a:off x="847725" y="4218682"/>
            <a:ext cx="31242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374151"/>
                </a:solidFill>
                <a:latin typeface="Plus Jakarta Sans"/>
              </a:rPr>
              <a:t>Technical Debt Ratio: costo de remediación vs costo de desarrollo (meta &lt; 5%). Cuantifica la deuda en días/persona.</a:t>
            </a:r>
            <a:endParaRPr/>
          </a:p>
        </p:txBody>
      </p:sp>
      <p:sp>
        <p:nvSpPr>
          <p:cNvPr id="209" name="Google Shape;209;p20"/>
          <p:cNvSpPr txBox="1"/>
          <p:nvPr/>
        </p:nvSpPr>
        <p:spPr>
          <a:xfrm>
            <a:off x="4581525" y="3885307"/>
            <a:ext cx="3975496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0F172A"/>
                </a:solidFill>
                <a:latin typeface="Plus Jakarta Sans"/>
              </a:rPr>
              <a:t>Complejidad Cognitiva</a:t>
            </a:r>
            <a:endParaRPr/>
          </a:p>
        </p:txBody>
      </p:sp>
      <p:sp>
        <p:nvSpPr>
          <p:cNvPr id="210" name="Google Shape;210;p20"/>
          <p:cNvSpPr txBox="1"/>
          <p:nvPr/>
        </p:nvSpPr>
        <p:spPr>
          <a:xfrm>
            <a:off x="4581525" y="4218682"/>
            <a:ext cx="31242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374151"/>
                </a:solidFill>
                <a:latin typeface="Plus Jakarta Sans"/>
              </a:rPr>
              <a:t>Mide el esfuerzo mental para comprender un flujo de código y predecir errores, superando a la complejidad ciclomática básica.</a:t>
            </a:r>
            <a:endParaRPr/>
          </a:p>
        </p:txBody>
      </p:sp>
      <p:sp>
        <p:nvSpPr>
          <p:cNvPr id="211" name="Google Shape;211;p20"/>
          <p:cNvSpPr txBox="1"/>
          <p:nvPr/>
        </p:nvSpPr>
        <p:spPr>
          <a:xfrm>
            <a:off x="8315325" y="3885307"/>
            <a:ext cx="387667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0F172A"/>
                </a:solidFill>
                <a:latin typeface="Plus Jakarta Sans"/>
              </a:rPr>
              <a:t>Churn de Código y Hotspots</a:t>
            </a:r>
            <a:endParaRPr/>
          </a:p>
        </p:txBody>
      </p:sp>
      <p:sp>
        <p:nvSpPr>
          <p:cNvPr id="212" name="Google Shape;212;p20"/>
          <p:cNvSpPr txBox="1"/>
          <p:nvPr/>
        </p:nvSpPr>
        <p:spPr>
          <a:xfrm>
            <a:off x="8315325" y="4218682"/>
            <a:ext cx="31242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374151"/>
                </a:solidFill>
                <a:latin typeface="Plus Jakarta Sans"/>
              </a:rPr>
              <a:t>Correlación entre alta frecuencia de cambios (Git churn) y alta complejidad. Señala exactamente qué módulos refactorizar primero.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6" name="Google Shape;196;p20"/>
          <p:cNvSpPr/>
          <p:nvPr/>
        </p:nvSpPr>
        <p:spPr>
          <a:xfrm>
            <a:off x="609600" y="2923282"/>
            <a:ext cx="3505200" cy="2089546"/>
          </a:xfrm>
          <a:prstGeom prst="roundRect">
            <a:avLst>
              <a:gd fmla="val 5470" name="adj"/>
            </a:avLst>
          </a:prstGeom>
          <a:solidFill>
            <a:srgbClr val="F0FDF4"/>
          </a:solidFill>
          <a:ln cap="flat" cmpd="sng" w="9525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4343400" y="2923282"/>
            <a:ext cx="3505200" cy="2089546"/>
          </a:xfrm>
          <a:prstGeom prst="roundRect">
            <a:avLst>
              <a:gd fmla="val 5470" name="adj"/>
            </a:avLst>
          </a:prstGeom>
          <a:solidFill>
            <a:srgbClr val="F0FDF4"/>
          </a:solidFill>
          <a:ln cap="flat" cmpd="sng" w="9525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8077200" y="2923282"/>
            <a:ext cx="3505200" cy="2089546"/>
          </a:xfrm>
          <a:prstGeom prst="roundRect">
            <a:avLst>
              <a:gd fmla="val 5470" name="adj"/>
            </a:avLst>
          </a:prstGeom>
          <a:solidFill>
            <a:srgbClr val="F0FDF4"/>
          </a:solidFill>
          <a:ln cap="flat" cmpd="sng" w="9525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9" name="Google Shape;19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7725" y="323760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81525" y="323760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15325" y="323760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1550" y="3361432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05350" y="3361432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39150" y="3361432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0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1">
                <a:solidFill>
                  <a:srgbClr val="EA580C"/>
                </a:solidFill>
                <a:latin typeface="Plus Jakarta Sans"/>
              </a:rPr>
              <a:t>TRABAJO AUTÓNOMO EN CASA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609600" y="742950"/>
            <a:ext cx="11582400" cy="41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700" b="1">
                <a:solidFill>
                  <a:srgbClr val="0F172A"/>
                </a:solidFill>
                <a:latin typeface="Plus Jakarta Sans"/>
              </a:rPr>
              <a:t>Taller 2: Auditoría Forense y Quality Gates</a:t>
            </a: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847725" y="3885307"/>
            <a:ext cx="3975496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0F172A"/>
                </a:solidFill>
                <a:latin typeface="Plus Jakarta Sans"/>
              </a:rPr>
              <a:t>Fase 1: Diagnóstico ISO 25010</a:t>
            </a:r>
            <a:endParaRPr/>
          </a:p>
        </p:txBody>
      </p:sp>
      <p:sp>
        <p:nvSpPr>
          <p:cNvPr id="208" name="Google Shape;208;p20"/>
          <p:cNvSpPr txBox="1"/>
          <p:nvPr/>
        </p:nvSpPr>
        <p:spPr>
          <a:xfrm>
            <a:off x="847725" y="4218682"/>
            <a:ext cx="31242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374151"/>
                </a:solidFill>
                <a:latin typeface="Plus Jakarta Sans"/>
              </a:rPr>
              <a:t>Auditoría con ESLint y análisis de complejidad sobre una API Express. Cálculo de TDR y reporte ejecutivo de hallazgos.</a:t>
            </a:r>
            <a:endParaRPr/>
          </a:p>
        </p:txBody>
      </p:sp>
      <p:sp>
        <p:nvSpPr>
          <p:cNvPr id="209" name="Google Shape;209;p20"/>
          <p:cNvSpPr txBox="1"/>
          <p:nvPr/>
        </p:nvSpPr>
        <p:spPr>
          <a:xfrm>
            <a:off x="4581525" y="3885307"/>
            <a:ext cx="3975496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0F172A"/>
                </a:solidFill>
                <a:latin typeface="Plus Jakarta Sans"/>
              </a:rPr>
              <a:t>Fase 2: Arquitectura Hexagonal</a:t>
            </a:r>
            <a:endParaRPr/>
          </a:p>
        </p:txBody>
      </p:sp>
      <p:sp>
        <p:nvSpPr>
          <p:cNvPr id="210" name="Google Shape;210;p20"/>
          <p:cNvSpPr txBox="1"/>
          <p:nvPr/>
        </p:nvSpPr>
        <p:spPr>
          <a:xfrm>
            <a:off x="4581525" y="4218682"/>
            <a:ext cx="31242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374151"/>
                </a:solidFill>
                <a:latin typeface="Plus Jakarta Sans"/>
              </a:rPr>
              <a:t>Desacoplar la lógica de dominio de controladores y persistencia. Implementar cobertura de pruebas unitarias puras &gt; 80%.</a:t>
            </a:r>
            <a:endParaRPr/>
          </a:p>
        </p:txBody>
      </p:sp>
      <p:sp>
        <p:nvSpPr>
          <p:cNvPr id="211" name="Google Shape;211;p20"/>
          <p:cNvSpPr txBox="1"/>
          <p:nvPr/>
        </p:nvSpPr>
        <p:spPr>
          <a:xfrm>
            <a:off x="8315325" y="3885307"/>
            <a:ext cx="387667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0F172A"/>
                </a:solidFill>
                <a:latin typeface="Plus Jakarta Sans"/>
              </a:rPr>
              <a:t>Fase 3: CI/CD Quality Gates</a:t>
            </a:r>
            <a:endParaRPr/>
          </a:p>
        </p:txBody>
      </p:sp>
      <p:sp>
        <p:nvSpPr>
          <p:cNvPr id="212" name="Google Shape;212;p20"/>
          <p:cNvSpPr txBox="1"/>
          <p:nvPr/>
        </p:nvSpPr>
        <p:spPr>
          <a:xfrm>
            <a:off x="8315325" y="4218682"/>
            <a:ext cx="31242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374151"/>
                </a:solidFill>
                <a:latin typeface="Plus Jakarta Sans"/>
              </a:rPr>
              <a:t>Pipeline en GitHub Actions que bloquea Pull Requests si la cobertura cae o se detectan vulnerabilidades críticas.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