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68" r:id="rId4"/>
    <p:sldId id="258" r:id="rId5"/>
    <p:sldId id="259" r:id="rId6"/>
    <p:sldId id="260" r:id="rId7"/>
    <p:sldId id="261" r:id="rId8"/>
    <p:sldId id="269" r:id="rId9"/>
    <p:sldId id="262" r:id="rId10"/>
    <p:sldId id="263" r:id="rId11"/>
    <p:sldId id="264" r:id="rId12"/>
    <p:sldId id="265" r:id="rId13"/>
    <p:sldId id="266" r:id="rId14"/>
    <p:sldId id="270" r:id="rId15"/>
    <p:sldId id="267" r:id="rId16"/>
  </p:sldIdLst>
  <p:sldSz cx="12192000" cy="6858000"/>
  <p:notesSz cx="6858000" cy="9144000"/>
  <p:embeddedFontLst>
    <p:embeddedFont>
      <p:font typeface="Plus Jakarta Sans" panose="020B060402020202020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685800" y="2343875"/>
            <a:ext cx="86475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Deuda Técnica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685800" y="3429009"/>
            <a:ext cx="67629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Síntomas visibles, causas organizacionales y estrategias de remediación continua.</a:t>
            </a:r>
            <a:endParaRPr/>
          </a:p>
        </p:txBody>
      </p:sp>
      <p:pic>
        <p:nvPicPr>
          <p:cNvPr id="86" name="Google Shape;86;p13"/>
          <p:cNvPicPr preferRelativeResize="0"/>
          <p:nvPr/>
        </p:nvPicPr>
        <p:blipFill rotWithShape="1">
          <a:blip r:embed="rId3">
            <a:alphaModFix/>
          </a:blip>
          <a:srcRect l="21548" r="21325" b="16999"/>
          <a:stretch/>
        </p:blipFill>
        <p:spPr>
          <a:xfrm>
            <a:off x="9708400" y="3629525"/>
            <a:ext cx="1950227" cy="291892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685800" y="6333050"/>
            <a:ext cx="3051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Esp. Ingeniería de Software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DC262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IMPACTO ECONÓMICO</a:t>
            </a:r>
            <a:endParaRPr/>
          </a:p>
        </p:txBody>
      </p:sp>
      <p:sp>
        <p:nvSpPr>
          <p:cNvPr id="93" name="Google Shape;93;p14"/>
          <p:cNvSpPr txBox="1"/>
          <p:nvPr/>
        </p:nvSpPr>
        <p:spPr>
          <a:xfrm>
            <a:off x="609600" y="742950"/>
            <a:ext cx="11582400" cy="411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 Costo de los Atajos</a:t>
            </a:r>
            <a:endParaRPr/>
          </a:p>
        </p:txBody>
      </p:sp>
      <p:sp>
        <p:nvSpPr>
          <p:cNvPr id="94" name="Google Shape;94;p14"/>
          <p:cNvSpPr txBox="1"/>
          <p:nvPr/>
        </p:nvSpPr>
        <p:spPr>
          <a:xfrm>
            <a:off x="4435078" y="2820292"/>
            <a:ext cx="3321843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i="0" u="none" strike="noStrike" cap="none">
                <a:solidFill>
                  <a:srgbClr val="DC262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42%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1893093" y="4153792"/>
            <a:ext cx="8405812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293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Tiempo de desarrollo consumido en pagar intereses técnicos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2827734" y="4515742"/>
            <a:ext cx="653653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decisión apresurada reduce la capacidad futura del equipo.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7"/>
          <p:cNvSpPr/>
          <p:nvPr/>
        </p:nvSpPr>
        <p:spPr>
          <a:xfrm>
            <a:off x="609600" y="2960489"/>
            <a:ext cx="2600325" cy="2402086"/>
          </a:xfrm>
          <a:prstGeom prst="roundRect">
            <a:avLst>
              <a:gd name="adj" fmla="val 5781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3400425" y="2960489"/>
            <a:ext cx="2600325" cy="2402086"/>
          </a:xfrm>
          <a:prstGeom prst="roundRect">
            <a:avLst>
              <a:gd name="adj" fmla="val 5781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6191250" y="2960489"/>
            <a:ext cx="2600325" cy="2402086"/>
          </a:xfrm>
          <a:prstGeom prst="roundRect">
            <a:avLst>
              <a:gd name="adj" fmla="val 5781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8982075" y="2960488"/>
            <a:ext cx="2600325" cy="2402085"/>
          </a:xfrm>
          <a:prstGeom prst="roundRect">
            <a:avLst>
              <a:gd name="adj" fmla="val 5781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>
                <a:solidFill>
                  <a:srgbClr val="2563EB"/>
                </a:solidFill>
                <a:latin typeface="Plus Jakarta Sans"/>
              </a:rPr>
              <a:t>CLASIFICACIÓN ESTRATÉGICA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609600" y="742950"/>
            <a:ext cx="11582400" cy="411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>
                <a:solidFill>
                  <a:srgbClr val="0F172A"/>
                </a:solidFill>
                <a:latin typeface="Plus Jakarta Sans"/>
              </a:rPr>
              <a:t>El Cuadrante de Martin Fowler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809625" y="3236714"/>
            <a:ext cx="275034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>
                <a:solidFill>
                  <a:srgbClr val="2563EB"/>
                </a:solidFill>
                <a:latin typeface="Plus Jakarta Sans"/>
              </a:rPr>
              <a:t>DELIBERADA • PRUDENTE</a:t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809625" y="3484364"/>
            <a:ext cx="28878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425" b="1">
                <a:solidFill>
                  <a:srgbClr val="0F172A"/>
                </a:solidFill>
                <a:latin typeface="Plus Jakarta Sans"/>
              </a:rPr>
              <a:t>Deuda Táctica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809625" y="3808214"/>
            <a:ext cx="2295525" cy="85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dirty="0">
                <a:solidFill>
                  <a:srgbClr val="475569"/>
                </a:solidFill>
                <a:latin typeface="Plus Jakarta Sans"/>
              </a:rPr>
              <a:t>«Debemos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salir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a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producción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ya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;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conocemos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las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concesiones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y las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pagaremos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en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el sprint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siguiente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.»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Decisión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consciente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de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negocio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.</a:t>
            </a:r>
            <a:endParaRPr dirty="0"/>
          </a:p>
        </p:txBody>
      </p:sp>
      <p:sp>
        <p:nvSpPr>
          <p:cNvPr id="151" name="Google Shape;151;p17"/>
          <p:cNvSpPr txBox="1"/>
          <p:nvPr/>
        </p:nvSpPr>
        <p:spPr>
          <a:xfrm>
            <a:off x="3600450" y="3236714"/>
            <a:ext cx="275034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>
                <a:solidFill>
                  <a:srgbClr val="DC2626"/>
                </a:solidFill>
                <a:latin typeface="Plus Jakarta Sans"/>
              </a:rPr>
              <a:t>DELIBERADA • TEMERARIA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3600450" y="3484364"/>
            <a:ext cx="28878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425" b="1">
                <a:solidFill>
                  <a:srgbClr val="0F172A"/>
                </a:solidFill>
                <a:latin typeface="Plus Jakarta Sans"/>
              </a:rPr>
              <a:t>Deuda Negligente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3600450" y="3808214"/>
            <a:ext cx="2295525" cy="85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dirty="0">
                <a:solidFill>
                  <a:srgbClr val="475569"/>
                </a:solidFill>
                <a:latin typeface="Plus Jakarta Sans"/>
              </a:rPr>
              <a:t>«No hay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tiempo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para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diseño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ni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testing, solo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lancen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código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.» Genera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bancarrota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técnica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acelerada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y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colapso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operacional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.</a:t>
            </a:r>
            <a:endParaRPr dirty="0"/>
          </a:p>
        </p:txBody>
      </p:sp>
      <p:sp>
        <p:nvSpPr>
          <p:cNvPr id="154" name="Google Shape;154;p17"/>
          <p:cNvSpPr txBox="1"/>
          <p:nvPr/>
        </p:nvSpPr>
        <p:spPr>
          <a:xfrm>
            <a:off x="6391275" y="3236714"/>
            <a:ext cx="275034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>
                <a:solidFill>
                  <a:srgbClr val="2563EB"/>
                </a:solidFill>
                <a:latin typeface="Plus Jakarta Sans"/>
              </a:rPr>
              <a:t>INADVERTIDA • PRUDENTE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6391275" y="3484364"/>
            <a:ext cx="28878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425" b="1">
                <a:solidFill>
                  <a:srgbClr val="0F172A"/>
                </a:solidFill>
                <a:latin typeface="Plus Jakarta Sans"/>
              </a:rPr>
              <a:t>Deuda por Aprendizaje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6391275" y="3808214"/>
            <a:ext cx="2295525" cy="85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dirty="0">
                <a:solidFill>
                  <a:srgbClr val="475569"/>
                </a:solidFill>
                <a:latin typeface="Plus Jakarta Sans"/>
              </a:rPr>
              <a:t>«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Ahora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que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entendemos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mejor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el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dominio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,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rediseñaríamos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el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módulo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.»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Consecuencia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natural de la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evolución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y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maduración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del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producto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.</a:t>
            </a:r>
            <a:endParaRPr dirty="0"/>
          </a:p>
        </p:txBody>
      </p:sp>
      <p:sp>
        <p:nvSpPr>
          <p:cNvPr id="157" name="Google Shape;157;p17"/>
          <p:cNvSpPr txBox="1"/>
          <p:nvPr/>
        </p:nvSpPr>
        <p:spPr>
          <a:xfrm>
            <a:off x="9182100" y="3236714"/>
            <a:ext cx="275034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>
                <a:solidFill>
                  <a:srgbClr val="DC2626"/>
                </a:solidFill>
                <a:latin typeface="Plus Jakarta Sans"/>
              </a:rPr>
              <a:t>INADVERTIDA • TEMERARIA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9182100" y="3484364"/>
            <a:ext cx="28878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425" b="1">
                <a:solidFill>
                  <a:srgbClr val="0F172A"/>
                </a:solidFill>
                <a:latin typeface="Plus Jakarta Sans"/>
              </a:rPr>
              <a:t>Deuda por Incompetencia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9182100" y="3808214"/>
            <a:ext cx="2295525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dirty="0">
                <a:solidFill>
                  <a:srgbClr val="475569"/>
                </a:solidFill>
                <a:latin typeface="Plus Jakarta Sans"/>
              </a:rPr>
              <a:t>«¿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Qué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son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patrones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SOLID o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modularidad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?»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Desconocimiento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técnico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que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genera software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imposible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de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mantener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 o </a:t>
            </a:r>
            <a:r>
              <a:rPr sz="1200" b="0" dirty="0" err="1">
                <a:solidFill>
                  <a:srgbClr val="475569"/>
                </a:solidFill>
                <a:latin typeface="Plus Jakarta Sans"/>
              </a:rPr>
              <a:t>testear</a:t>
            </a:r>
            <a:r>
              <a:rPr sz="1200" b="0" dirty="0">
                <a:solidFill>
                  <a:srgbClr val="475569"/>
                </a:solidFill>
                <a:latin typeface="Plus Jakarta Sans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5"/>
          <p:cNvSpPr/>
          <p:nvPr/>
        </p:nvSpPr>
        <p:spPr>
          <a:xfrm>
            <a:off x="609600" y="2923282"/>
            <a:ext cx="3505200" cy="2089546"/>
          </a:xfrm>
          <a:prstGeom prst="roundRect">
            <a:avLst>
              <a:gd name="adj" fmla="val 5470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5"/>
          <p:cNvSpPr/>
          <p:nvPr/>
        </p:nvSpPr>
        <p:spPr>
          <a:xfrm>
            <a:off x="4343400" y="2923282"/>
            <a:ext cx="3505200" cy="2089546"/>
          </a:xfrm>
          <a:prstGeom prst="roundRect">
            <a:avLst>
              <a:gd name="adj" fmla="val 5470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/>
          <p:nvPr/>
        </p:nvSpPr>
        <p:spPr>
          <a:xfrm>
            <a:off x="8077200" y="2923282"/>
            <a:ext cx="3505200" cy="2089546"/>
          </a:xfrm>
          <a:prstGeom prst="roundRect">
            <a:avLst>
              <a:gd name="adj" fmla="val 5470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5825" y="3237607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19625" y="3237607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53425" y="3237607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09650" y="3361432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43450" y="3361432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477250" y="3361432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2563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DIAGNÓSTICO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609600" y="742950"/>
            <a:ext cx="11582400" cy="411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Síntomas Críticos en el Sistema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885825" y="3885307"/>
            <a:ext cx="3875484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Modificaciones Frágiles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85825" y="4218682"/>
            <a:ext cx="30480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Múltiples incidencias ante cambios mínimos.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4619625" y="3885307"/>
            <a:ext cx="3875484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Rendimiento Degradado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4619625" y="4218682"/>
            <a:ext cx="3690937" cy="239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Software lento y recursos agotados.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8353425" y="3885307"/>
            <a:ext cx="3838575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Código Intocable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8353425" y="4218682"/>
            <a:ext cx="30480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Módulos temidos por todo el equipo.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/>
          <p:nvPr/>
        </p:nvSpPr>
        <p:spPr>
          <a:xfrm>
            <a:off x="6324600" y="2948880"/>
            <a:ext cx="52578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6324600" y="3691830"/>
            <a:ext cx="52578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/>
          <p:nvPr/>
        </p:nvSpPr>
        <p:spPr>
          <a:xfrm>
            <a:off x="6324600" y="4434780"/>
            <a:ext cx="52578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6324600" y="2948880"/>
            <a:ext cx="38100" cy="51435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6324600" y="3691830"/>
            <a:ext cx="38100" cy="5143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6"/>
          <p:cNvSpPr/>
          <p:nvPr/>
        </p:nvSpPr>
        <p:spPr>
          <a:xfrm>
            <a:off x="6324600" y="4434780"/>
            <a:ext cx="38100" cy="5143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8" name="Google Shape;12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" y="1853505"/>
            <a:ext cx="5257800" cy="419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" y="1853505"/>
            <a:ext cx="5257800" cy="419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6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2563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DIAGNÓSTICO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609600" y="742950"/>
            <a:ext cx="11582400" cy="411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Síntomas en el Equipo y Operación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6553200" y="2948880"/>
            <a:ext cx="563880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Dependencias Obsoletas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6553200" y="3244155"/>
            <a:ext cx="56388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Librerías desactualizadas e imposibles de migrar.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6553200" y="3691830"/>
            <a:ext cx="563880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Dificultad de Reclutamiento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6553200" y="3987105"/>
            <a:ext cx="56388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Curva de entrada excesiva para desarrolladores nuevos.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6553200" y="4434780"/>
            <a:ext cx="563880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Entregas a Ciegas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6553200" y="4730055"/>
            <a:ext cx="56388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Despliegues continuos sin validación formal de calidad.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7"/>
          <p:cNvSpPr/>
          <p:nvPr/>
        </p:nvSpPr>
        <p:spPr>
          <a:xfrm>
            <a:off x="609600" y="2960489"/>
            <a:ext cx="2600325" cy="1977032"/>
          </a:xfrm>
          <a:prstGeom prst="roundRect">
            <a:avLst>
              <a:gd name="adj" fmla="val 5781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3400425" y="2960489"/>
            <a:ext cx="2600325" cy="1977032"/>
          </a:xfrm>
          <a:prstGeom prst="roundRect">
            <a:avLst>
              <a:gd name="adj" fmla="val 5781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6191250" y="2960489"/>
            <a:ext cx="2600325" cy="1977032"/>
          </a:xfrm>
          <a:prstGeom prst="roundRect">
            <a:avLst>
              <a:gd name="adj" fmla="val 5781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8982075" y="2960489"/>
            <a:ext cx="2600325" cy="1977032"/>
          </a:xfrm>
          <a:prstGeom prst="roundRect">
            <a:avLst>
              <a:gd name="adj" fmla="val 5781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2563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ESTÁNDARES INTERNACIONALES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609600" y="742950"/>
            <a:ext cx="11582400" cy="411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Marcos ISO/IEC/IEEE para Mitigar Deuda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809625" y="3236714"/>
            <a:ext cx="275034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2563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ISO/IEC/IEEE 12207</a:t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809625" y="3484364"/>
            <a:ext cx="28878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Ciclo de Vida Software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809625" y="3808214"/>
            <a:ext cx="2295525" cy="85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Gobernanza de procesos técnicos, transición formal y mantenimiento evolutivo disciplinado.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3600450" y="3236714"/>
            <a:ext cx="275034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2563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ISO/IEC/IEEE 16326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3600450" y="3484364"/>
            <a:ext cx="28878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Gestión de Proyectos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3600450" y="3808214"/>
            <a:ext cx="2295525" cy="85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Planificación de contingencias, cálculo de riesgos e impacto de plazos forzados.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6391275" y="3236714"/>
            <a:ext cx="275034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2563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ISO/IEC/IEEE 29148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6391275" y="3484364"/>
            <a:ext cx="28878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Ingeniería de Requisitos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6391275" y="3808214"/>
            <a:ext cx="2295525" cy="85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Prevención de ambigüedad, control de alcance y trazabilidad de requerimientos.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9182100" y="3236714"/>
            <a:ext cx="275034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2563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ISO/IEC 25010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9182100" y="3484364"/>
            <a:ext cx="28878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Modelo de Calidad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9182100" y="3808214"/>
            <a:ext cx="2295525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Evaluación cuantitativa de mantenibilidad, modularidad y reusabilidad.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/>
          <p:nvPr/>
        </p:nvSpPr>
        <p:spPr>
          <a:xfrm>
            <a:off x="609600" y="1497210"/>
            <a:ext cx="5314950" cy="4903589"/>
          </a:xfrm>
          <a:prstGeom prst="roundRect">
            <a:avLst>
              <a:gd name="adj" fmla="val 2330"/>
            </a:avLst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6267450" y="1497210"/>
            <a:ext cx="5314950" cy="4903589"/>
          </a:xfrm>
          <a:prstGeom prst="roundRect">
            <a:avLst>
              <a:gd name="adj" fmla="val 2330"/>
            </a:avLst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8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2563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ORIGEN DEL PROBLEMA</a:t>
            </a:r>
            <a:endParaRPr/>
          </a:p>
        </p:txBody>
      </p:sp>
      <p:sp>
        <p:nvSpPr>
          <p:cNvPr id="167" name="Google Shape;167;p18"/>
          <p:cNvSpPr txBox="1"/>
          <p:nvPr/>
        </p:nvSpPr>
        <p:spPr>
          <a:xfrm>
            <a:off x="609600" y="742950"/>
            <a:ext cx="11582400" cy="411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Causas Humanas y Organizacionales</a:t>
            </a:r>
            <a:endParaRPr/>
          </a:p>
        </p:txBody>
      </p:sp>
      <p:sp>
        <p:nvSpPr>
          <p:cNvPr id="168" name="Google Shape;168;p18"/>
          <p:cNvSpPr txBox="1"/>
          <p:nvPr/>
        </p:nvSpPr>
        <p:spPr>
          <a:xfrm>
            <a:off x="952500" y="2810172"/>
            <a:ext cx="6075759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Fricciones de Proceso</a:t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6610350" y="2810172"/>
            <a:ext cx="55816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Personas y Capacidades</a:t>
            </a:r>
            <a:endParaRPr/>
          </a:p>
        </p:txBody>
      </p:sp>
      <p:sp>
        <p:nvSpPr>
          <p:cNvPr id="170" name="Google Shape;170;p18"/>
          <p:cNvSpPr txBox="1"/>
          <p:nvPr/>
        </p:nvSpPr>
        <p:spPr>
          <a:xfrm>
            <a:off x="952500" y="3305472"/>
            <a:ext cx="47244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Desarrollos en paralelo: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Ausencia de sincronización y merge continuo.</a:t>
            </a: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952500" y="3956744"/>
            <a:ext cx="47244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Externalización aislada: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Código de terceros sin inspección estricta.</a:t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952500" y="4608016"/>
            <a:ext cx="47244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Procesos volátiles: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Modificaciones abruptas de alcance en ejecución.</a:t>
            </a:r>
            <a:endParaRPr/>
          </a:p>
        </p:txBody>
      </p:sp>
      <p:sp>
        <p:nvSpPr>
          <p:cNvPr id="173" name="Google Shape;173;p18"/>
          <p:cNvSpPr txBox="1"/>
          <p:nvPr/>
        </p:nvSpPr>
        <p:spPr>
          <a:xfrm>
            <a:off x="6610350" y="3305472"/>
            <a:ext cx="47244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Brecha técnica: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Desconocimiento de patrones SOLID y testing.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6610350" y="3956744"/>
            <a:ext cx="47244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Urgencia ficticia: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Priorizar salidas prematuras sin Definition of Done.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6610350" y="4608016"/>
            <a:ext cx="47244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Cero documentación: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Dependencia crítica del conocimiento de un solo autor.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0"/>
          <p:cNvSpPr/>
          <p:nvPr/>
        </p:nvSpPr>
        <p:spPr>
          <a:xfrm>
            <a:off x="609600" y="2923282"/>
            <a:ext cx="3505200" cy="2089546"/>
          </a:xfrm>
          <a:prstGeom prst="roundRect">
            <a:avLst>
              <a:gd name="adj" fmla="val 5470"/>
            </a:avLst>
          </a:prstGeom>
          <a:solidFill>
            <a:srgbClr val="F0FDF4"/>
          </a:solidFill>
          <a:ln w="9525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0"/>
          <p:cNvSpPr/>
          <p:nvPr/>
        </p:nvSpPr>
        <p:spPr>
          <a:xfrm>
            <a:off x="4343400" y="2923282"/>
            <a:ext cx="3505200" cy="2089546"/>
          </a:xfrm>
          <a:prstGeom prst="roundRect">
            <a:avLst>
              <a:gd name="adj" fmla="val 5470"/>
            </a:avLst>
          </a:prstGeom>
          <a:solidFill>
            <a:srgbClr val="F0FDF4"/>
          </a:solidFill>
          <a:ln w="9525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0"/>
          <p:cNvSpPr/>
          <p:nvPr/>
        </p:nvSpPr>
        <p:spPr>
          <a:xfrm>
            <a:off x="8077200" y="2923282"/>
            <a:ext cx="3505200" cy="2089546"/>
          </a:xfrm>
          <a:prstGeom prst="roundRect">
            <a:avLst>
              <a:gd name="adj" fmla="val 5470"/>
            </a:avLst>
          </a:prstGeom>
          <a:solidFill>
            <a:srgbClr val="F0FDF4"/>
          </a:solidFill>
          <a:ln w="9525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0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>
                <a:solidFill>
                  <a:srgbClr val="2563EB"/>
                </a:solidFill>
                <a:latin typeface="Plus Jakarta Sans"/>
              </a:rPr>
              <a:t>MEDICIÓN Y GOBERNANZA</a:t>
            </a:r>
            <a:endParaRPr/>
          </a:p>
        </p:txBody>
      </p:sp>
      <p:sp>
        <p:nvSpPr>
          <p:cNvPr id="206" name="Google Shape;206;p20"/>
          <p:cNvSpPr txBox="1"/>
          <p:nvPr/>
        </p:nvSpPr>
        <p:spPr>
          <a:xfrm>
            <a:off x="609600" y="742950"/>
            <a:ext cx="11582400" cy="411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>
                <a:solidFill>
                  <a:srgbClr val="0F172A"/>
                </a:solidFill>
                <a:latin typeface="Plus Jakarta Sans"/>
              </a:rPr>
              <a:t>Métricas Objetivas de Deuda Técnica</a:t>
            </a:r>
            <a:endParaRPr/>
          </a:p>
        </p:txBody>
      </p:sp>
      <p:sp>
        <p:nvSpPr>
          <p:cNvPr id="207" name="Google Shape;207;p20"/>
          <p:cNvSpPr txBox="1"/>
          <p:nvPr/>
        </p:nvSpPr>
        <p:spPr>
          <a:xfrm>
            <a:off x="847725" y="3240584"/>
            <a:ext cx="3975496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dirty="0">
                <a:solidFill>
                  <a:srgbClr val="0F172A"/>
                </a:solidFill>
                <a:latin typeface="Plus Jakarta Sans"/>
              </a:rPr>
              <a:t>TDR e </a:t>
            </a:r>
            <a:r>
              <a:rPr sz="1500" b="1" dirty="0" err="1">
                <a:solidFill>
                  <a:srgbClr val="0F172A"/>
                </a:solidFill>
                <a:latin typeface="Plus Jakarta Sans"/>
              </a:rPr>
              <a:t>Índice</a:t>
            </a:r>
            <a:r>
              <a:rPr sz="1500" b="1" dirty="0">
                <a:solidFill>
                  <a:srgbClr val="0F172A"/>
                </a:solidFill>
                <a:latin typeface="Plus Jakarta Sans"/>
              </a:rPr>
              <a:t> SQALE</a:t>
            </a:r>
            <a:endParaRPr dirty="0"/>
          </a:p>
        </p:txBody>
      </p:sp>
      <p:sp>
        <p:nvSpPr>
          <p:cNvPr id="208" name="Google Shape;208;p20"/>
          <p:cNvSpPr txBox="1"/>
          <p:nvPr/>
        </p:nvSpPr>
        <p:spPr>
          <a:xfrm>
            <a:off x="847725" y="3573959"/>
            <a:ext cx="31242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dirty="0">
                <a:solidFill>
                  <a:srgbClr val="374151"/>
                </a:solidFill>
                <a:latin typeface="Plus Jakarta Sans"/>
              </a:rPr>
              <a:t>Technical Debt Ratio: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costo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de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remediación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vs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costo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de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desarrollo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(meta &lt; 5%).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Cuantifica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la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deuda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en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días/persona.</a:t>
            </a:r>
            <a:endParaRPr dirty="0"/>
          </a:p>
        </p:txBody>
      </p:sp>
      <p:sp>
        <p:nvSpPr>
          <p:cNvPr id="209" name="Google Shape;209;p20"/>
          <p:cNvSpPr txBox="1"/>
          <p:nvPr/>
        </p:nvSpPr>
        <p:spPr>
          <a:xfrm>
            <a:off x="4600575" y="3240584"/>
            <a:ext cx="3975496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dirty="0" err="1">
                <a:solidFill>
                  <a:srgbClr val="0F172A"/>
                </a:solidFill>
                <a:latin typeface="Plus Jakarta Sans"/>
              </a:rPr>
              <a:t>Complejidad</a:t>
            </a:r>
            <a:r>
              <a:rPr sz="1500" b="1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500" b="1" dirty="0" err="1">
                <a:solidFill>
                  <a:srgbClr val="0F172A"/>
                </a:solidFill>
                <a:latin typeface="Plus Jakarta Sans"/>
              </a:rPr>
              <a:t>Cognitiva</a:t>
            </a:r>
            <a:endParaRPr dirty="0"/>
          </a:p>
        </p:txBody>
      </p:sp>
      <p:sp>
        <p:nvSpPr>
          <p:cNvPr id="210" name="Google Shape;210;p20"/>
          <p:cNvSpPr txBox="1"/>
          <p:nvPr/>
        </p:nvSpPr>
        <p:spPr>
          <a:xfrm>
            <a:off x="4600575" y="3573959"/>
            <a:ext cx="31242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dirty="0">
                <a:solidFill>
                  <a:srgbClr val="374151"/>
                </a:solidFill>
                <a:latin typeface="Plus Jakarta Sans"/>
              </a:rPr>
              <a:t>Mide el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esfuerzo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mental para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comprender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un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flujo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de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código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y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predecir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errores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,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superando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a la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complejidad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ciclomática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básica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.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8315325" y="3240584"/>
            <a:ext cx="3876675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F172A"/>
                </a:solidFill>
                <a:latin typeface="Plus Jakarta Sans"/>
              </a:rPr>
              <a:t>Churn de Código y Hotspots</a:t>
            </a:r>
            <a:endParaRPr/>
          </a:p>
        </p:txBody>
      </p:sp>
      <p:sp>
        <p:nvSpPr>
          <p:cNvPr id="212" name="Google Shape;212;p20"/>
          <p:cNvSpPr txBox="1"/>
          <p:nvPr/>
        </p:nvSpPr>
        <p:spPr>
          <a:xfrm>
            <a:off x="8315325" y="3573959"/>
            <a:ext cx="31242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Correlación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entre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alta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frecuencia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de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cambios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(Git churn) y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alta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complejidad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.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Señala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exactamente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qué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módulos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refactorizar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primero.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9"/>
          <p:cNvSpPr/>
          <p:nvPr/>
        </p:nvSpPr>
        <p:spPr>
          <a:xfrm>
            <a:off x="609600" y="3009007"/>
            <a:ext cx="3505200" cy="1879996"/>
          </a:xfrm>
          <a:prstGeom prst="roundRect">
            <a:avLst>
              <a:gd name="adj" fmla="val 6079"/>
            </a:avLst>
          </a:prstGeom>
          <a:solidFill>
            <a:srgbClr val="F0F9FF"/>
          </a:solidFill>
          <a:ln w="9525" cap="flat" cmpd="sng">
            <a:solidFill>
              <a:srgbClr val="BAE6F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9"/>
          <p:cNvSpPr/>
          <p:nvPr/>
        </p:nvSpPr>
        <p:spPr>
          <a:xfrm>
            <a:off x="4343400" y="3009007"/>
            <a:ext cx="3505200" cy="1879996"/>
          </a:xfrm>
          <a:prstGeom prst="roundRect">
            <a:avLst>
              <a:gd name="adj" fmla="val 6079"/>
            </a:avLst>
          </a:prstGeom>
          <a:solidFill>
            <a:srgbClr val="F0F9FF"/>
          </a:solidFill>
          <a:ln w="9525" cap="flat" cmpd="sng">
            <a:solidFill>
              <a:srgbClr val="BAE6F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9"/>
          <p:cNvSpPr/>
          <p:nvPr/>
        </p:nvSpPr>
        <p:spPr>
          <a:xfrm>
            <a:off x="8077200" y="3009007"/>
            <a:ext cx="3505200" cy="1879996"/>
          </a:xfrm>
          <a:prstGeom prst="roundRect">
            <a:avLst>
              <a:gd name="adj" fmla="val 6079"/>
            </a:avLst>
          </a:prstGeom>
          <a:solidFill>
            <a:srgbClr val="F0F9FF"/>
          </a:solidFill>
          <a:ln w="9525" cap="flat" cmpd="sng">
            <a:solidFill>
              <a:srgbClr val="BAE6F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3" name="Google Shape;18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7725" y="3323332"/>
            <a:ext cx="30289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15325" y="3323332"/>
            <a:ext cx="302895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9"/>
          <p:cNvSpPr txBox="1"/>
          <p:nvPr/>
        </p:nvSpPr>
        <p:spPr>
          <a:xfrm>
            <a:off x="609600" y="742950"/>
            <a:ext cx="11582400" cy="411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Principios de Gestión en Producción Real</a:t>
            </a:r>
            <a:endParaRPr/>
          </a:p>
        </p:txBody>
      </p:sp>
      <p:sp>
        <p:nvSpPr>
          <p:cNvPr id="186" name="Google Shape;186;p19"/>
          <p:cNvSpPr txBox="1"/>
          <p:nvPr/>
        </p:nvSpPr>
        <p:spPr>
          <a:xfrm>
            <a:off x="847725" y="3761482"/>
            <a:ext cx="3975496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Deuda Deliberada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847725" y="4094857"/>
            <a:ext cx="31242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Aceptable solo si es visible, trazada en backlog y con fecha de pago.</a:t>
            </a:r>
            <a:endParaRPr/>
          </a:p>
        </p:txBody>
      </p:sp>
      <p:sp>
        <p:nvSpPr>
          <p:cNvPr id="188" name="Google Shape;188;p19"/>
          <p:cNvSpPr txBox="1"/>
          <p:nvPr/>
        </p:nvSpPr>
        <p:spPr>
          <a:xfrm>
            <a:off x="4581525" y="3513832"/>
            <a:ext cx="3975496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Quality Gates de CI/CD</a:t>
            </a:r>
            <a:endParaRPr/>
          </a:p>
        </p:txBody>
      </p:sp>
      <p:sp>
        <p:nvSpPr>
          <p:cNvPr id="189" name="Google Shape;189;p19"/>
          <p:cNvSpPr txBox="1"/>
          <p:nvPr/>
        </p:nvSpPr>
        <p:spPr>
          <a:xfrm>
            <a:off x="4581525" y="3847207"/>
            <a:ext cx="31242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SonarQube y linters bloquean merges si la cobertura baja del 80%.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8315325" y="3761482"/>
            <a:ext cx="3876675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Regla del Boy Scout</a:t>
            </a:r>
            <a:endParaRPr/>
          </a:p>
        </p:txBody>
      </p:sp>
      <p:sp>
        <p:nvSpPr>
          <p:cNvPr id="191" name="Google Shape;191;p19"/>
          <p:cNvSpPr txBox="1"/>
          <p:nvPr/>
        </p:nvSpPr>
        <p:spPr>
          <a:xfrm>
            <a:off x="8315325" y="4094857"/>
            <a:ext cx="31242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Deja cada módulo más limpio de lo que lo encontraste al editar.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0"/>
          <p:cNvSpPr/>
          <p:nvPr/>
        </p:nvSpPr>
        <p:spPr>
          <a:xfrm>
            <a:off x="609600" y="2923282"/>
            <a:ext cx="3505200" cy="2089546"/>
          </a:xfrm>
          <a:prstGeom prst="roundRect">
            <a:avLst>
              <a:gd name="adj" fmla="val 5470"/>
            </a:avLst>
          </a:prstGeom>
          <a:solidFill>
            <a:srgbClr val="F0FDF4"/>
          </a:solidFill>
          <a:ln w="9525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0"/>
          <p:cNvSpPr/>
          <p:nvPr/>
        </p:nvSpPr>
        <p:spPr>
          <a:xfrm>
            <a:off x="4343400" y="2923282"/>
            <a:ext cx="3505200" cy="2089546"/>
          </a:xfrm>
          <a:prstGeom prst="roundRect">
            <a:avLst>
              <a:gd name="adj" fmla="val 5470"/>
            </a:avLst>
          </a:prstGeom>
          <a:solidFill>
            <a:srgbClr val="F0FDF4"/>
          </a:solidFill>
          <a:ln w="9525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0"/>
          <p:cNvSpPr/>
          <p:nvPr/>
        </p:nvSpPr>
        <p:spPr>
          <a:xfrm>
            <a:off x="8077200" y="2923282"/>
            <a:ext cx="3505200" cy="2089546"/>
          </a:xfrm>
          <a:prstGeom prst="roundRect">
            <a:avLst>
              <a:gd name="adj" fmla="val 5470"/>
            </a:avLst>
          </a:prstGeom>
          <a:solidFill>
            <a:srgbClr val="F0FDF4"/>
          </a:solidFill>
          <a:ln w="9525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9" name="Google Shape;199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7725" y="3237607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81525" y="3237607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15325" y="3237607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1550" y="3361432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05350" y="3361432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439150" y="3361432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0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6A34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REMEDIACIÓN</a:t>
            </a:r>
            <a:endParaRPr/>
          </a:p>
        </p:txBody>
      </p:sp>
      <p:sp>
        <p:nvSpPr>
          <p:cNvPr id="206" name="Google Shape;206;p20"/>
          <p:cNvSpPr txBox="1"/>
          <p:nvPr/>
        </p:nvSpPr>
        <p:spPr>
          <a:xfrm>
            <a:off x="609600" y="742950"/>
            <a:ext cx="11582400" cy="411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Pilares de Resolución</a:t>
            </a:r>
            <a:endParaRPr/>
          </a:p>
        </p:txBody>
      </p:sp>
      <p:sp>
        <p:nvSpPr>
          <p:cNvPr id="207" name="Google Shape;207;p20"/>
          <p:cNvSpPr txBox="1"/>
          <p:nvPr/>
        </p:nvSpPr>
        <p:spPr>
          <a:xfrm>
            <a:off x="847725" y="3885307"/>
            <a:ext cx="3975496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Cultura de Orden</a:t>
            </a:r>
            <a:endParaRPr/>
          </a:p>
        </p:txBody>
      </p:sp>
      <p:sp>
        <p:nvSpPr>
          <p:cNvPr id="208" name="Google Shape;208;p20"/>
          <p:cNvSpPr txBox="1"/>
          <p:nvPr/>
        </p:nvSpPr>
        <p:spPr>
          <a:xfrm>
            <a:off x="847725" y="4218682"/>
            <a:ext cx="31242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7415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Disciplina diaria en tipado y pruebas unitarias.</a:t>
            </a:r>
            <a:endParaRPr/>
          </a:p>
        </p:txBody>
      </p:sp>
      <p:sp>
        <p:nvSpPr>
          <p:cNvPr id="209" name="Google Shape;209;p20"/>
          <p:cNvSpPr txBox="1"/>
          <p:nvPr/>
        </p:nvSpPr>
        <p:spPr>
          <a:xfrm>
            <a:off x="4581525" y="3885307"/>
            <a:ext cx="3975496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Refactor Planificado</a:t>
            </a:r>
            <a:endParaRPr/>
          </a:p>
        </p:txBody>
      </p:sp>
      <p:sp>
        <p:nvSpPr>
          <p:cNvPr id="210" name="Google Shape;210;p20"/>
          <p:cNvSpPr txBox="1"/>
          <p:nvPr/>
        </p:nvSpPr>
        <p:spPr>
          <a:xfrm>
            <a:off x="4581525" y="4218682"/>
            <a:ext cx="31242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7415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20% de cada sprint reservado para sanear deuda.</a:t>
            </a:r>
            <a:endParaRPr/>
          </a:p>
        </p:txBody>
      </p:sp>
      <p:sp>
        <p:nvSpPr>
          <p:cNvPr id="211" name="Google Shape;211;p20"/>
          <p:cNvSpPr txBox="1"/>
          <p:nvPr/>
        </p:nvSpPr>
        <p:spPr>
          <a:xfrm>
            <a:off x="8315325" y="3885307"/>
            <a:ext cx="3876675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Diseño Resiliente</a:t>
            </a:r>
            <a:endParaRPr/>
          </a:p>
        </p:txBody>
      </p:sp>
      <p:sp>
        <p:nvSpPr>
          <p:cNvPr id="212" name="Google Shape;212;p20"/>
          <p:cNvSpPr txBox="1"/>
          <p:nvPr/>
        </p:nvSpPr>
        <p:spPr>
          <a:xfrm>
            <a:off x="8315325" y="4218682"/>
            <a:ext cx="31242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7415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Arquitectura hexagonal que aísla dependencias volátiles.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1"/>
          <p:cNvSpPr/>
          <p:nvPr/>
        </p:nvSpPr>
        <p:spPr>
          <a:xfrm>
            <a:off x="3162300" y="3433717"/>
            <a:ext cx="5257800" cy="10764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3162300" y="3433717"/>
            <a:ext cx="38100" cy="1076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1"/>
          <p:cNvSpPr txBox="1"/>
          <p:nvPr/>
        </p:nvSpPr>
        <p:spPr>
          <a:xfrm>
            <a:off x="609600" y="742950"/>
            <a:ext cx="11582400" cy="411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Taller </a:t>
            </a:r>
            <a:r>
              <a:rPr lang="en-US" sz="2700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Práctico</a:t>
            </a:r>
            <a:r>
              <a:rPr lang="en-US" sz="270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El Monolito </a:t>
            </a:r>
            <a:r>
              <a:rPr lang="en-US" sz="2700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Tóxico</a:t>
            </a:r>
            <a:endParaRPr dirty="0"/>
          </a:p>
        </p:txBody>
      </p:sp>
      <p:sp>
        <p:nvSpPr>
          <p:cNvPr id="220" name="Google Shape;220;p21"/>
          <p:cNvSpPr txBox="1"/>
          <p:nvPr/>
        </p:nvSpPr>
        <p:spPr>
          <a:xfrm>
            <a:off x="3162300" y="2347867"/>
            <a:ext cx="58674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Propósito del Ejercicio</a:t>
            </a:r>
            <a:endParaRPr/>
          </a:p>
        </p:txBody>
      </p:sp>
      <p:sp>
        <p:nvSpPr>
          <p:cNvPr id="221" name="Google Shape;221;p21"/>
          <p:cNvSpPr txBox="1"/>
          <p:nvPr/>
        </p:nvSpPr>
        <p:spPr>
          <a:xfrm>
            <a:off x="3162300" y="2690767"/>
            <a:ext cx="5353200" cy="5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Simular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el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relevo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forzado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un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servicio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sin tests, con variables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ilegibles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y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dependencias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obsoletas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dirty="0"/>
          </a:p>
        </p:txBody>
      </p:sp>
      <p:sp>
        <p:nvSpPr>
          <p:cNvPr id="222" name="Google Shape;222;p21"/>
          <p:cNvSpPr txBox="1"/>
          <p:nvPr/>
        </p:nvSpPr>
        <p:spPr>
          <a:xfrm>
            <a:off x="3429000" y="3624217"/>
            <a:ext cx="56007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2400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Dinámica de Trabajo</a:t>
            </a:r>
            <a:endParaRPr/>
          </a:p>
        </p:txBody>
      </p:sp>
      <p:sp>
        <p:nvSpPr>
          <p:cNvPr id="223" name="Google Shape;223;p21"/>
          <p:cNvSpPr txBox="1"/>
          <p:nvPr/>
        </p:nvSpPr>
        <p:spPr>
          <a:xfrm>
            <a:off x="3429000" y="3881392"/>
            <a:ext cx="4857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7835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Equipos</a:t>
            </a:r>
            <a:r>
              <a:rPr lang="en-US" sz="1350" b="0" i="0" u="none" strike="noStrike" cap="none" dirty="0">
                <a:solidFill>
                  <a:srgbClr val="7835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2 a 3 personas </a:t>
            </a:r>
            <a:r>
              <a:rPr lang="en-US" sz="1350" b="0" i="0" u="none" strike="noStrike" cap="none" dirty="0" err="1">
                <a:solidFill>
                  <a:srgbClr val="7835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rotando</a:t>
            </a:r>
            <a:r>
              <a:rPr lang="en-US" sz="1350" b="0" i="0" u="none" strike="noStrike" cap="none" dirty="0">
                <a:solidFill>
                  <a:srgbClr val="7835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0" i="0" u="none" strike="noStrike" cap="none" dirty="0" err="1">
                <a:solidFill>
                  <a:srgbClr val="7835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sobre</a:t>
            </a:r>
            <a:r>
              <a:rPr lang="en-US" sz="1350" b="0" i="0" u="none" strike="noStrike" cap="none" dirty="0">
                <a:solidFill>
                  <a:srgbClr val="7835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un </a:t>
            </a:r>
            <a:r>
              <a:rPr lang="en-US" sz="1350" b="0" i="0" u="none" strike="noStrike" cap="none" dirty="0" err="1">
                <a:solidFill>
                  <a:srgbClr val="7835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repositorio</a:t>
            </a:r>
            <a:r>
              <a:rPr lang="en-US" sz="1350" b="0" i="0" u="none" strike="noStrike" cap="none" dirty="0">
                <a:solidFill>
                  <a:srgbClr val="7835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Git </a:t>
            </a:r>
            <a:r>
              <a:rPr lang="en-US" sz="1350" b="0" i="0" u="none" strike="noStrike" cap="none" dirty="0" err="1">
                <a:solidFill>
                  <a:srgbClr val="7835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compartido</a:t>
            </a:r>
            <a:r>
              <a:rPr lang="en-US" sz="1350" b="0" i="0" u="none" strike="noStrike" cap="none" dirty="0">
                <a:solidFill>
                  <a:srgbClr val="7835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2"/>
          <p:cNvSpPr/>
          <p:nvPr/>
        </p:nvSpPr>
        <p:spPr>
          <a:xfrm>
            <a:off x="3254863" y="2520550"/>
            <a:ext cx="5097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2"/>
          <p:cNvSpPr/>
          <p:nvPr/>
        </p:nvSpPr>
        <p:spPr>
          <a:xfrm>
            <a:off x="3254863" y="3168250"/>
            <a:ext cx="5097000" cy="6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2"/>
          <p:cNvSpPr/>
          <p:nvPr/>
        </p:nvSpPr>
        <p:spPr>
          <a:xfrm>
            <a:off x="3254863" y="4015975"/>
            <a:ext cx="5097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2"/>
          <p:cNvSpPr/>
          <p:nvPr/>
        </p:nvSpPr>
        <p:spPr>
          <a:xfrm>
            <a:off x="3254863" y="2520550"/>
            <a:ext cx="3660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2"/>
          <p:cNvSpPr/>
          <p:nvPr/>
        </p:nvSpPr>
        <p:spPr>
          <a:xfrm>
            <a:off x="3254863" y="3168250"/>
            <a:ext cx="36600" cy="6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/>
          <p:nvPr/>
        </p:nvSpPr>
        <p:spPr>
          <a:xfrm>
            <a:off x="3254863" y="4015975"/>
            <a:ext cx="36600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2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D9770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ESPECIFICACIÓN DEL REPOSITORIO</a:t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609600" y="742950"/>
            <a:ext cx="11582400" cy="411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Estructura del Proyecto Starter en Git</a:t>
            </a:r>
            <a:endParaRPr/>
          </a:p>
        </p:txBody>
      </p:sp>
      <p:sp>
        <p:nvSpPr>
          <p:cNvPr id="236" name="Google Shape;236;p22"/>
          <p:cNvSpPr txBox="1"/>
          <p:nvPr/>
        </p:nvSpPr>
        <p:spPr>
          <a:xfrm>
            <a:off x="3456147" y="2520550"/>
            <a:ext cx="54810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Paso 1: Clonar y Explorar</a:t>
            </a:r>
            <a:endParaRPr/>
          </a:p>
        </p:txBody>
      </p:sp>
      <p:sp>
        <p:nvSpPr>
          <p:cNvPr id="237" name="Google Shape;237;p22"/>
          <p:cNvSpPr txBox="1"/>
          <p:nvPr/>
        </p:nvSpPr>
        <p:spPr>
          <a:xfrm>
            <a:off x="3456147" y="2777725"/>
            <a:ext cx="5481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Descargar el repositorio y verificar la ausencia de linters y tests.</a:t>
            </a:r>
            <a:endParaRPr/>
          </a:p>
        </p:txBody>
      </p:sp>
      <p:sp>
        <p:nvSpPr>
          <p:cNvPr id="238" name="Google Shape;238;p22"/>
          <p:cNvSpPr txBox="1"/>
          <p:nvPr/>
        </p:nvSpPr>
        <p:spPr>
          <a:xfrm>
            <a:off x="3456147" y="3168250"/>
            <a:ext cx="54810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Paso 2: </a:t>
            </a:r>
            <a:r>
              <a:rPr lang="en-US" sz="1350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Bifurcación</a:t>
            </a:r>
            <a:r>
              <a:rPr lang="en-US" sz="1350" b="1" i="0" u="none" strike="noStrike" cap="none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350" b="1" i="0" u="none" strike="noStrike" cap="none" dirty="0" err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Descoordinada</a:t>
            </a:r>
            <a:endParaRPr dirty="0"/>
          </a:p>
        </p:txBody>
      </p:sp>
      <p:sp>
        <p:nvSpPr>
          <p:cNvPr id="239" name="Google Shape;239;p22"/>
          <p:cNvSpPr txBox="1"/>
          <p:nvPr/>
        </p:nvSpPr>
        <p:spPr>
          <a:xfrm>
            <a:off x="3456147" y="3425425"/>
            <a:ext cx="4987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Equipo A y Equipo B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abren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ramas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paralelas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para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editar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el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mismo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archivo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dirty="0"/>
          </a:p>
        </p:txBody>
      </p:sp>
      <p:sp>
        <p:nvSpPr>
          <p:cNvPr id="240" name="Google Shape;240;p22"/>
          <p:cNvSpPr txBox="1"/>
          <p:nvPr/>
        </p:nvSpPr>
        <p:spPr>
          <a:xfrm>
            <a:off x="3456147" y="4015975"/>
            <a:ext cx="54810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Paso 3: Colisión en Pull Request</a:t>
            </a:r>
            <a:endParaRPr/>
          </a:p>
        </p:txBody>
      </p:sp>
      <p:sp>
        <p:nvSpPr>
          <p:cNvPr id="241" name="Google Shape;241;p22"/>
          <p:cNvSpPr txBox="1"/>
          <p:nvPr/>
        </p:nvSpPr>
        <p:spPr>
          <a:xfrm>
            <a:off x="3456147" y="4273150"/>
            <a:ext cx="5481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Conflictos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masivos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merge y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fallos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en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producción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simulada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3"/>
          <p:cNvSpPr/>
          <p:nvPr/>
        </p:nvSpPr>
        <p:spPr>
          <a:xfrm>
            <a:off x="609600" y="3032819"/>
            <a:ext cx="3505200" cy="1908571"/>
          </a:xfrm>
          <a:prstGeom prst="roundRect">
            <a:avLst>
              <a:gd name="adj" fmla="val 5988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3"/>
          <p:cNvSpPr/>
          <p:nvPr/>
        </p:nvSpPr>
        <p:spPr>
          <a:xfrm>
            <a:off x="4343400" y="3032819"/>
            <a:ext cx="3505200" cy="1908571"/>
          </a:xfrm>
          <a:prstGeom prst="roundRect">
            <a:avLst>
              <a:gd name="adj" fmla="val 5988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3"/>
          <p:cNvSpPr/>
          <p:nvPr/>
        </p:nvSpPr>
        <p:spPr>
          <a:xfrm>
            <a:off x="8077200" y="3032819"/>
            <a:ext cx="3505200" cy="1908571"/>
          </a:xfrm>
          <a:prstGeom prst="roundRect">
            <a:avLst>
              <a:gd name="adj" fmla="val 5988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3"/>
          <p:cNvSpPr/>
          <p:nvPr/>
        </p:nvSpPr>
        <p:spPr>
          <a:xfrm>
            <a:off x="847725" y="3347144"/>
            <a:ext cx="1485900" cy="314325"/>
          </a:xfrm>
          <a:prstGeom prst="roundRect">
            <a:avLst>
              <a:gd name="adj" fmla="val 18181"/>
            </a:avLst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3"/>
          <p:cNvSpPr/>
          <p:nvPr/>
        </p:nvSpPr>
        <p:spPr>
          <a:xfrm>
            <a:off x="4581525" y="3347144"/>
            <a:ext cx="1476375" cy="314325"/>
          </a:xfrm>
          <a:prstGeom prst="roundRect">
            <a:avLst>
              <a:gd name="adj" fmla="val 18181"/>
            </a:avLst>
          </a:prstGeom>
          <a:solidFill>
            <a:srgbClr val="FEE2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3"/>
          <p:cNvSpPr/>
          <p:nvPr/>
        </p:nvSpPr>
        <p:spPr>
          <a:xfrm>
            <a:off x="8315325" y="3347144"/>
            <a:ext cx="1514475" cy="314325"/>
          </a:xfrm>
          <a:prstGeom prst="roundRect">
            <a:avLst>
              <a:gd name="adj" fmla="val 18181"/>
            </a:avLst>
          </a:prstGeom>
          <a:solidFill>
            <a:srgbClr val="DCFC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3"/>
          <p:cNvSpPr txBox="1"/>
          <p:nvPr/>
        </p:nvSpPr>
        <p:spPr>
          <a:xfrm>
            <a:off x="609600" y="742950"/>
            <a:ext cx="11582400" cy="411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Tres Rondas de Tensión Realista</a:t>
            </a:r>
            <a:endParaRPr/>
          </a:p>
        </p:txBody>
      </p:sp>
      <p:sp>
        <p:nvSpPr>
          <p:cNvPr id="253" name="Google Shape;253;p23"/>
          <p:cNvSpPr txBox="1"/>
          <p:nvPr/>
        </p:nvSpPr>
        <p:spPr>
          <a:xfrm>
            <a:off x="981075" y="3404294"/>
            <a:ext cx="13144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E40A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Ronda 1 • 20 min</a:t>
            </a:r>
            <a:endParaRPr/>
          </a:p>
        </p:txBody>
      </p:sp>
      <p:sp>
        <p:nvSpPr>
          <p:cNvPr id="254" name="Google Shape;254;p23"/>
          <p:cNvSpPr txBox="1"/>
          <p:nvPr/>
        </p:nvSpPr>
        <p:spPr>
          <a:xfrm>
            <a:off x="847725" y="3813869"/>
            <a:ext cx="3975496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Presión de Entrega</a:t>
            </a:r>
            <a:endParaRPr/>
          </a:p>
        </p:txBody>
      </p:sp>
      <p:sp>
        <p:nvSpPr>
          <p:cNvPr id="255" name="Google Shape;255;p23"/>
          <p:cNvSpPr txBox="1"/>
          <p:nvPr/>
        </p:nvSpPr>
        <p:spPr>
          <a:xfrm>
            <a:off x="847725" y="4147244"/>
            <a:ext cx="31242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Agregar descuentos exprés sin tests ni tipado.</a:t>
            </a:r>
            <a:endParaRPr/>
          </a:p>
        </p:txBody>
      </p:sp>
      <p:sp>
        <p:nvSpPr>
          <p:cNvPr id="256" name="Google Shape;256;p23"/>
          <p:cNvSpPr txBox="1"/>
          <p:nvPr/>
        </p:nvSpPr>
        <p:spPr>
          <a:xfrm>
            <a:off x="4714875" y="3404294"/>
            <a:ext cx="13049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991B1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Ronda 2 • 15 min</a:t>
            </a:r>
            <a:endParaRPr/>
          </a:p>
        </p:txBody>
      </p:sp>
      <p:sp>
        <p:nvSpPr>
          <p:cNvPr id="257" name="Google Shape;257;p23"/>
          <p:cNvSpPr txBox="1"/>
          <p:nvPr/>
        </p:nvSpPr>
        <p:spPr>
          <a:xfrm>
            <a:off x="4581525" y="3813869"/>
            <a:ext cx="3975496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Intercambio de Rama</a:t>
            </a:r>
            <a:endParaRPr/>
          </a:p>
        </p:txBody>
      </p:sp>
      <p:sp>
        <p:nvSpPr>
          <p:cNvPr id="258" name="Google Shape;258;p23"/>
          <p:cNvSpPr txBox="1"/>
          <p:nvPr/>
        </p:nvSpPr>
        <p:spPr>
          <a:xfrm>
            <a:off x="4581525" y="4147244"/>
            <a:ext cx="31242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Trabajar sobre el commit ajeno sin explicaciones.</a:t>
            </a:r>
            <a:endParaRPr/>
          </a:p>
        </p:txBody>
      </p:sp>
      <p:sp>
        <p:nvSpPr>
          <p:cNvPr id="259" name="Google Shape;259;p23"/>
          <p:cNvSpPr txBox="1"/>
          <p:nvPr/>
        </p:nvSpPr>
        <p:spPr>
          <a:xfrm>
            <a:off x="8448675" y="3404294"/>
            <a:ext cx="13430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66534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Ronda 3 • 25 min</a:t>
            </a:r>
            <a:endParaRPr/>
          </a:p>
        </p:txBody>
      </p:sp>
      <p:sp>
        <p:nvSpPr>
          <p:cNvPr id="260" name="Google Shape;260;p23"/>
          <p:cNvSpPr txBox="1"/>
          <p:nvPr/>
        </p:nvSpPr>
        <p:spPr>
          <a:xfrm>
            <a:off x="8315325" y="3813869"/>
            <a:ext cx="3876675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Saneamiento ISO</a:t>
            </a:r>
            <a:endParaRPr/>
          </a:p>
        </p:txBody>
      </p:sp>
      <p:sp>
        <p:nvSpPr>
          <p:cNvPr id="261" name="Google Shape;261;p23"/>
          <p:cNvSpPr txBox="1"/>
          <p:nvPr/>
        </p:nvSpPr>
        <p:spPr>
          <a:xfrm>
            <a:off x="8315325" y="4147244"/>
            <a:ext cx="31242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Introducir pruebas de caracterización y refactorizar.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0"/>
          <p:cNvSpPr/>
          <p:nvPr/>
        </p:nvSpPr>
        <p:spPr>
          <a:xfrm>
            <a:off x="609600" y="2923282"/>
            <a:ext cx="3505200" cy="2089546"/>
          </a:xfrm>
          <a:prstGeom prst="roundRect">
            <a:avLst>
              <a:gd name="adj" fmla="val 5470"/>
            </a:avLst>
          </a:prstGeom>
          <a:solidFill>
            <a:srgbClr val="F0FDF4"/>
          </a:solidFill>
          <a:ln w="9525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0"/>
          <p:cNvSpPr/>
          <p:nvPr/>
        </p:nvSpPr>
        <p:spPr>
          <a:xfrm>
            <a:off x="4343400" y="2923282"/>
            <a:ext cx="3505200" cy="2089546"/>
          </a:xfrm>
          <a:prstGeom prst="roundRect">
            <a:avLst>
              <a:gd name="adj" fmla="val 5470"/>
            </a:avLst>
          </a:prstGeom>
          <a:solidFill>
            <a:srgbClr val="F0FDF4"/>
          </a:solidFill>
          <a:ln w="9525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0"/>
          <p:cNvSpPr/>
          <p:nvPr/>
        </p:nvSpPr>
        <p:spPr>
          <a:xfrm>
            <a:off x="8077200" y="2923282"/>
            <a:ext cx="3505200" cy="2089546"/>
          </a:xfrm>
          <a:prstGeom prst="roundRect">
            <a:avLst>
              <a:gd name="adj" fmla="val 5470"/>
            </a:avLst>
          </a:prstGeom>
          <a:solidFill>
            <a:srgbClr val="F0FDF4"/>
          </a:solidFill>
          <a:ln w="9525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0"/>
          <p:cNvSpPr txBox="1"/>
          <p:nvPr/>
        </p:nvSpPr>
        <p:spPr>
          <a:xfrm>
            <a:off x="609600" y="457200"/>
            <a:ext cx="1158240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dirty="0">
                <a:solidFill>
                  <a:srgbClr val="EA580C"/>
                </a:solidFill>
                <a:latin typeface="Plus Jakarta Sans"/>
              </a:rPr>
              <a:t>TRABAJO AUTÓNOMO</a:t>
            </a:r>
            <a:endParaRPr dirty="0"/>
          </a:p>
        </p:txBody>
      </p:sp>
      <p:sp>
        <p:nvSpPr>
          <p:cNvPr id="206" name="Google Shape;206;p20"/>
          <p:cNvSpPr txBox="1"/>
          <p:nvPr/>
        </p:nvSpPr>
        <p:spPr>
          <a:xfrm>
            <a:off x="609600" y="742950"/>
            <a:ext cx="11582400" cy="411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>
                <a:solidFill>
                  <a:srgbClr val="0F172A"/>
                </a:solidFill>
                <a:latin typeface="Plus Jakarta Sans"/>
              </a:rPr>
              <a:t>Taller 2: Auditoría Forense y Quality Gates</a:t>
            </a:r>
            <a:endParaRPr/>
          </a:p>
        </p:txBody>
      </p:sp>
      <p:sp>
        <p:nvSpPr>
          <p:cNvPr id="207" name="Google Shape;207;p20"/>
          <p:cNvSpPr txBox="1"/>
          <p:nvPr/>
        </p:nvSpPr>
        <p:spPr>
          <a:xfrm>
            <a:off x="838200" y="3230717"/>
            <a:ext cx="3975496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dirty="0">
                <a:solidFill>
                  <a:srgbClr val="0F172A"/>
                </a:solidFill>
                <a:latin typeface="Plus Jakarta Sans"/>
              </a:rPr>
              <a:t>Fase 1: </a:t>
            </a:r>
            <a:r>
              <a:rPr sz="1500" b="1" dirty="0" err="1">
                <a:solidFill>
                  <a:srgbClr val="0F172A"/>
                </a:solidFill>
                <a:latin typeface="Plus Jakarta Sans"/>
              </a:rPr>
              <a:t>Diagnóstico</a:t>
            </a:r>
            <a:r>
              <a:rPr sz="1500" b="1" dirty="0">
                <a:solidFill>
                  <a:srgbClr val="0F172A"/>
                </a:solidFill>
                <a:latin typeface="Plus Jakarta Sans"/>
              </a:rPr>
              <a:t> ISO 25010</a:t>
            </a:r>
            <a:endParaRPr dirty="0"/>
          </a:p>
        </p:txBody>
      </p:sp>
      <p:sp>
        <p:nvSpPr>
          <p:cNvPr id="208" name="Google Shape;208;p20"/>
          <p:cNvSpPr txBox="1"/>
          <p:nvPr/>
        </p:nvSpPr>
        <p:spPr>
          <a:xfrm>
            <a:off x="838200" y="3564092"/>
            <a:ext cx="31242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Auditoría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con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ESLint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y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análisis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de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complejidad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sobre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una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API Express.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Cálculo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de TDR y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reporte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ejecutivo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de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hallazgos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.</a:t>
            </a:r>
            <a:endParaRPr dirty="0"/>
          </a:p>
        </p:txBody>
      </p:sp>
      <p:sp>
        <p:nvSpPr>
          <p:cNvPr id="209" name="Google Shape;209;p20"/>
          <p:cNvSpPr txBox="1"/>
          <p:nvPr/>
        </p:nvSpPr>
        <p:spPr>
          <a:xfrm>
            <a:off x="4524375" y="3230717"/>
            <a:ext cx="304800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dirty="0">
                <a:solidFill>
                  <a:srgbClr val="0F172A"/>
                </a:solidFill>
                <a:latin typeface="Plus Jakarta Sans"/>
              </a:rPr>
              <a:t>Fase 2: </a:t>
            </a:r>
            <a:r>
              <a:rPr sz="1500" b="1" dirty="0" err="1">
                <a:solidFill>
                  <a:srgbClr val="0F172A"/>
                </a:solidFill>
                <a:latin typeface="Plus Jakarta Sans"/>
              </a:rPr>
              <a:t>Arquitectura</a:t>
            </a:r>
            <a:r>
              <a:rPr sz="1500" b="1" dirty="0">
                <a:solidFill>
                  <a:srgbClr val="0F172A"/>
                </a:solidFill>
                <a:latin typeface="Plus Jakarta Sans"/>
              </a:rPr>
              <a:t> Hexagonal</a:t>
            </a:r>
            <a:endParaRPr dirty="0"/>
          </a:p>
        </p:txBody>
      </p:sp>
      <p:sp>
        <p:nvSpPr>
          <p:cNvPr id="210" name="Google Shape;210;p20"/>
          <p:cNvSpPr txBox="1"/>
          <p:nvPr/>
        </p:nvSpPr>
        <p:spPr>
          <a:xfrm>
            <a:off x="4524375" y="3564092"/>
            <a:ext cx="31242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Desacoplar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la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lógica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de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dominio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de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controladores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y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persistencia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.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Implementar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cobertura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de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pruebas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unitarias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puras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&gt; 80%.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8315325" y="3190875"/>
            <a:ext cx="3876675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dirty="0">
                <a:solidFill>
                  <a:srgbClr val="0F172A"/>
                </a:solidFill>
                <a:latin typeface="Plus Jakarta Sans"/>
              </a:rPr>
              <a:t>Fase 3: CI/CD Quality Gates</a:t>
            </a:r>
            <a:endParaRPr dirty="0"/>
          </a:p>
        </p:txBody>
      </p:sp>
      <p:sp>
        <p:nvSpPr>
          <p:cNvPr id="212" name="Google Shape;212;p20"/>
          <p:cNvSpPr txBox="1"/>
          <p:nvPr/>
        </p:nvSpPr>
        <p:spPr>
          <a:xfrm>
            <a:off x="8315325" y="3524250"/>
            <a:ext cx="3124200" cy="479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dirty="0">
                <a:solidFill>
                  <a:srgbClr val="374151"/>
                </a:solidFill>
                <a:latin typeface="Plus Jakarta Sans"/>
              </a:rPr>
              <a:t>Pipeline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en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GitHub Actions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que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bloquea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Pull Requests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si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la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cobertura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cae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o se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detectan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vulnerabilidades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 </a:t>
            </a:r>
            <a:r>
              <a:rPr sz="1350" b="0" dirty="0" err="1">
                <a:solidFill>
                  <a:srgbClr val="374151"/>
                </a:solidFill>
                <a:latin typeface="Plus Jakarta Sans"/>
              </a:rPr>
              <a:t>críticas</a:t>
            </a:r>
            <a:r>
              <a:rPr sz="1350" b="0" dirty="0">
                <a:solidFill>
                  <a:srgbClr val="374151"/>
                </a:solidFill>
                <a:latin typeface="Plus Jakarta Sans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4"/>
          <p:cNvSpPr txBox="1"/>
          <p:nvPr/>
        </p:nvSpPr>
        <p:spPr>
          <a:xfrm>
            <a:off x="1657945" y="2716559"/>
            <a:ext cx="8876109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 Software Envejece Cada Día</a:t>
            </a:r>
            <a:endParaRPr/>
          </a:p>
        </p:txBody>
      </p:sp>
      <p:sp>
        <p:nvSpPr>
          <p:cNvPr id="267" name="Google Shape;267;p24"/>
          <p:cNvSpPr txBox="1"/>
          <p:nvPr/>
        </p:nvSpPr>
        <p:spPr>
          <a:xfrm>
            <a:off x="1809750" y="3493740"/>
            <a:ext cx="8572500" cy="76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mantenimiento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preventivo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no es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burocracia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</a:t>
            </a:r>
            <a:r>
              <a:rPr lang="en-US" sz="1650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 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único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seguro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contra el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colapso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operativo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840</Words>
  <Application>Microsoft Office PowerPoint</Application>
  <PresentationFormat>Panorámica</PresentationFormat>
  <Paragraphs>118</Paragraphs>
  <Slides>15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Plus Jakarta Sans</vt:lpstr>
      <vt:lpstr>Calibri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Nicolás Rey Ducuara</cp:lastModifiedBy>
  <cp:revision>2</cp:revision>
  <dcterms:modified xsi:type="dcterms:W3CDTF">2026-10-21T19:14:01Z</dcterms:modified>
</cp:coreProperties>
</file>